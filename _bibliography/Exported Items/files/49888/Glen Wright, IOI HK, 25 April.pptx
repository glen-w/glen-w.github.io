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 id="2147483660" r:id="rId2"/>
    <p:sldMasterId id="2147483671" r:id="rId3"/>
    <p:sldMasterId id="2147483683" r:id="rId4"/>
    <p:sldMasterId id="2147483695" r:id="rId5"/>
  </p:sldMasterIdLst>
  <p:notesMasterIdLst>
    <p:notesMasterId r:id="rId21"/>
  </p:notesMasterIdLst>
  <p:handoutMasterIdLst>
    <p:handoutMasterId r:id="rId22"/>
  </p:handoutMasterIdLst>
  <p:sldIdLst>
    <p:sldId id="256" r:id="rId6"/>
    <p:sldId id="279" r:id="rId7"/>
    <p:sldId id="262" r:id="rId8"/>
    <p:sldId id="290" r:id="rId9"/>
    <p:sldId id="263" r:id="rId10"/>
    <p:sldId id="289" r:id="rId11"/>
    <p:sldId id="281" r:id="rId12"/>
    <p:sldId id="283" r:id="rId13"/>
    <p:sldId id="285" r:id="rId14"/>
    <p:sldId id="286" r:id="rId15"/>
    <p:sldId id="284" r:id="rId16"/>
    <p:sldId id="287" r:id="rId17"/>
    <p:sldId id="288" r:id="rId18"/>
    <p:sldId id="282" r:id="rId19"/>
    <p:sldId id="272" r:id="rId20"/>
  </p:sldIdLst>
  <p:sldSz cx="9144000" cy="6858000" type="screen4x3"/>
  <p:notesSz cx="6797675" cy="9926638"/>
  <p:defaultTextStyle>
    <a:defPPr>
      <a:defRPr lang="fr-FR"/>
    </a:defPPr>
    <a:lvl1pPr algn="l" rtl="0" fontAlgn="base">
      <a:spcBef>
        <a:spcPct val="0"/>
      </a:spcBef>
      <a:spcAft>
        <a:spcPct val="0"/>
      </a:spcAft>
      <a:defRPr b="1" kern="1200">
        <a:solidFill>
          <a:schemeClr val="tx1"/>
        </a:solidFill>
        <a:latin typeface="Arial" pitchFamily="34" charset="0"/>
        <a:ea typeface="+mn-ea"/>
        <a:cs typeface="Arial" pitchFamily="34" charset="0"/>
      </a:defRPr>
    </a:lvl1pPr>
    <a:lvl2pPr marL="457200" algn="l" rtl="0" fontAlgn="base">
      <a:spcBef>
        <a:spcPct val="0"/>
      </a:spcBef>
      <a:spcAft>
        <a:spcPct val="0"/>
      </a:spcAft>
      <a:defRPr b="1" kern="1200">
        <a:solidFill>
          <a:schemeClr val="tx1"/>
        </a:solidFill>
        <a:latin typeface="Arial" pitchFamily="34" charset="0"/>
        <a:ea typeface="+mn-ea"/>
        <a:cs typeface="Arial" pitchFamily="34" charset="0"/>
      </a:defRPr>
    </a:lvl2pPr>
    <a:lvl3pPr marL="914400" algn="l" rtl="0" fontAlgn="base">
      <a:spcBef>
        <a:spcPct val="0"/>
      </a:spcBef>
      <a:spcAft>
        <a:spcPct val="0"/>
      </a:spcAft>
      <a:defRPr b="1"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b="1"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b="1" kern="1200">
        <a:solidFill>
          <a:schemeClr val="tx1"/>
        </a:solidFill>
        <a:latin typeface="Arial" pitchFamily="34" charset="0"/>
        <a:ea typeface="+mn-ea"/>
        <a:cs typeface="Arial" pitchFamily="34" charset="0"/>
      </a:defRPr>
    </a:lvl5pPr>
    <a:lvl6pPr marL="2286000" algn="l" defTabSz="914400" rtl="0" eaLnBrk="1" latinLnBrk="0" hangingPunct="1">
      <a:defRPr b="1" kern="1200">
        <a:solidFill>
          <a:schemeClr val="tx1"/>
        </a:solidFill>
        <a:latin typeface="Arial" pitchFamily="34" charset="0"/>
        <a:ea typeface="+mn-ea"/>
        <a:cs typeface="Arial" pitchFamily="34" charset="0"/>
      </a:defRPr>
    </a:lvl6pPr>
    <a:lvl7pPr marL="2743200" algn="l" defTabSz="914400" rtl="0" eaLnBrk="1" latinLnBrk="0" hangingPunct="1">
      <a:defRPr b="1" kern="1200">
        <a:solidFill>
          <a:schemeClr val="tx1"/>
        </a:solidFill>
        <a:latin typeface="Arial" pitchFamily="34" charset="0"/>
        <a:ea typeface="+mn-ea"/>
        <a:cs typeface="Arial" pitchFamily="34" charset="0"/>
      </a:defRPr>
    </a:lvl7pPr>
    <a:lvl8pPr marL="3200400" algn="l" defTabSz="914400" rtl="0" eaLnBrk="1" latinLnBrk="0" hangingPunct="1">
      <a:defRPr b="1" kern="1200">
        <a:solidFill>
          <a:schemeClr val="tx1"/>
        </a:solidFill>
        <a:latin typeface="Arial" pitchFamily="34" charset="0"/>
        <a:ea typeface="+mn-ea"/>
        <a:cs typeface="Arial" pitchFamily="34" charset="0"/>
      </a:defRPr>
    </a:lvl8pPr>
    <a:lvl9pPr marL="3657600" algn="l" defTabSz="914400" rtl="0" eaLnBrk="1" latinLnBrk="0" hangingPunct="1">
      <a:defRPr b="1" kern="1200">
        <a:solidFill>
          <a:schemeClr val="tx1"/>
        </a:solidFill>
        <a:latin typeface="Arial" pitchFamily="34" charset="0"/>
        <a:ea typeface="+mn-ea"/>
        <a:cs typeface="Arial" pitchFamily="34" charset="0"/>
      </a:defRPr>
    </a:lvl9pPr>
  </p:defaultTextStyle>
  <p:extLst>
    <p:ext uri="{521415D9-36F7-43E2-AB2F-B90AF26B5E84}">
      <p14:sectionLst xmlns:p14="http://schemas.microsoft.com/office/powerpoint/2010/main">
        <p14:section name="Default Section" id="{90A9ACCE-89EE-4592-B8F2-D170A7DE8F50}">
          <p14:sldIdLst>
            <p14:sldId id="256"/>
            <p14:sldId id="279"/>
            <p14:sldId id="262"/>
            <p14:sldId id="290"/>
            <p14:sldId id="263"/>
            <p14:sldId id="289"/>
            <p14:sldId id="281"/>
            <p14:sldId id="283"/>
            <p14:sldId id="285"/>
            <p14:sldId id="286"/>
            <p14:sldId id="284"/>
            <p14:sldId id="287"/>
            <p14:sldId id="288"/>
            <p14:sldId id="282"/>
            <p14:sldId id="272"/>
          </p14:sldIdLst>
        </p14:section>
      </p14:sectionLst>
    </p:ex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 uri="{2D200454-40CA-4A62-9FC3-DE9A4176ACB9}">
      <p15:notesGuideLst xmlns="" xmlns:p15="http://schemas.microsoft.com/office/powerpoint/2012/main">
        <p15:guide id="1" orient="horz" pos="3127">
          <p15:clr>
            <a:srgbClr val="A4A3A4"/>
          </p15:clr>
        </p15:guide>
        <p15:guide id="2" pos="214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homas" initials="T" lastIdx="9" clrIdx="0"/>
  <p:cmAuthor id="1" name="Utilisateur" initials="U" lastIdx="3" clrIdx="1"/>
  <p:cmAuthor id="2" name="Oliver Sartor" initials="OS" lastIdx="1" clrIdx="2"/>
  <p:cmAuthor id="3" name="Ll" initials="Ll"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0B18"/>
    <a:srgbClr val="FF0000"/>
    <a:srgbClr val="007AD6"/>
    <a:srgbClr val="0078D2"/>
    <a:srgbClr val="3287CE"/>
    <a:srgbClr val="008AF2"/>
    <a:srgbClr val="D20C1A"/>
    <a:srgbClr val="0066FF"/>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88" autoAdjust="0"/>
    <p:restoredTop sz="64831" autoAdjust="0"/>
  </p:normalViewPr>
  <p:slideViewPr>
    <p:cSldViewPr snapToObjects="1">
      <p:cViewPr>
        <p:scale>
          <a:sx n="81" d="100"/>
          <a:sy n="81" d="100"/>
        </p:scale>
        <p:origin x="-1760" y="-112"/>
      </p:cViewPr>
      <p:guideLst>
        <p:guide orient="horz" pos="2160"/>
        <p:guide pos="2880"/>
      </p:guideLst>
    </p:cSldViewPr>
  </p:slideViewPr>
  <p:outlineViewPr>
    <p:cViewPr>
      <p:scale>
        <a:sx n="33" d="100"/>
        <a:sy n="33" d="100"/>
      </p:scale>
      <p:origin x="0" y="12294"/>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varScale="1">
        <p:scale>
          <a:sx n="65" d="100"/>
          <a:sy n="65" d="100"/>
        </p:scale>
        <p:origin x="-2442" y="-114"/>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20" Type="http://schemas.openxmlformats.org/officeDocument/2006/relationships/slide" Target="slides/slide15.xml"/><Relationship Id="rId21" Type="http://schemas.openxmlformats.org/officeDocument/2006/relationships/notesMaster" Target="notesMasters/notesMaster1.xml"/><Relationship Id="rId22" Type="http://schemas.openxmlformats.org/officeDocument/2006/relationships/handoutMaster" Target="handoutMasters/handoutMaster1.xml"/><Relationship Id="rId23" Type="http://schemas.openxmlformats.org/officeDocument/2006/relationships/printerSettings" Target="printerSettings/printerSettings1.bin"/><Relationship Id="rId24" Type="http://schemas.openxmlformats.org/officeDocument/2006/relationships/commentAuthors" Target="commentAuthors.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2034" name="Rectangle 2"/>
          <p:cNvSpPr>
            <a:spLocks noGrp="1" noChangeArrowheads="1"/>
          </p:cNvSpPr>
          <p:nvPr>
            <p:ph type="hdr" sz="quarter"/>
          </p:nvPr>
        </p:nvSpPr>
        <p:spPr bwMode="auto">
          <a:xfrm>
            <a:off x="0" y="0"/>
            <a:ext cx="2946400" cy="495300"/>
          </a:xfrm>
          <a:prstGeom prst="rect">
            <a:avLst/>
          </a:prstGeom>
          <a:noFill/>
          <a:ln w="9525">
            <a:noFill/>
            <a:miter lim="800000"/>
            <a:headEnd/>
            <a:tailEnd/>
          </a:ln>
          <a:effectLst/>
        </p:spPr>
        <p:txBody>
          <a:bodyPr vert="horz" wrap="square" lIns="95562" tIns="47781" rIns="95562" bIns="47781" numCol="1" anchor="t" anchorCtr="0" compatLnSpc="1">
            <a:prstTxWarp prst="textNoShape">
              <a:avLst/>
            </a:prstTxWarp>
          </a:bodyPr>
          <a:lstStyle>
            <a:lvl1pPr defTabSz="955731">
              <a:defRPr sz="1300" b="0">
                <a:latin typeface="Arial" charset="0"/>
                <a:cs typeface="Arial" charset="0"/>
              </a:defRPr>
            </a:lvl1pPr>
          </a:lstStyle>
          <a:p>
            <a:pPr>
              <a:defRPr/>
            </a:pPr>
            <a:endParaRPr lang="en-GB"/>
          </a:p>
        </p:txBody>
      </p:sp>
      <p:sp>
        <p:nvSpPr>
          <p:cNvPr id="172035" name="Rectangle 3"/>
          <p:cNvSpPr>
            <a:spLocks noGrp="1" noChangeArrowheads="1"/>
          </p:cNvSpPr>
          <p:nvPr>
            <p:ph type="dt" sz="quarter" idx="1"/>
          </p:nvPr>
        </p:nvSpPr>
        <p:spPr bwMode="auto">
          <a:xfrm>
            <a:off x="3849688" y="0"/>
            <a:ext cx="2946400" cy="495300"/>
          </a:xfrm>
          <a:prstGeom prst="rect">
            <a:avLst/>
          </a:prstGeom>
          <a:noFill/>
          <a:ln w="9525">
            <a:noFill/>
            <a:miter lim="800000"/>
            <a:headEnd/>
            <a:tailEnd/>
          </a:ln>
          <a:effectLst/>
        </p:spPr>
        <p:txBody>
          <a:bodyPr vert="horz" wrap="square" lIns="95562" tIns="47781" rIns="95562" bIns="47781" numCol="1" anchor="t" anchorCtr="0" compatLnSpc="1">
            <a:prstTxWarp prst="textNoShape">
              <a:avLst/>
            </a:prstTxWarp>
          </a:bodyPr>
          <a:lstStyle>
            <a:lvl1pPr algn="r" defTabSz="955731">
              <a:defRPr sz="1300" b="0">
                <a:latin typeface="Arial" charset="0"/>
                <a:cs typeface="Arial" charset="0"/>
              </a:defRPr>
            </a:lvl1pPr>
          </a:lstStyle>
          <a:p>
            <a:pPr>
              <a:defRPr/>
            </a:pPr>
            <a:endParaRPr lang="en-GB"/>
          </a:p>
        </p:txBody>
      </p:sp>
      <p:sp>
        <p:nvSpPr>
          <p:cNvPr id="172036" name="Rectangle 4"/>
          <p:cNvSpPr>
            <a:spLocks noGrp="1" noChangeArrowheads="1"/>
          </p:cNvSpPr>
          <p:nvPr>
            <p:ph type="ftr" sz="quarter" idx="2"/>
          </p:nvPr>
        </p:nvSpPr>
        <p:spPr bwMode="auto">
          <a:xfrm>
            <a:off x="0" y="9429750"/>
            <a:ext cx="2946400" cy="495300"/>
          </a:xfrm>
          <a:prstGeom prst="rect">
            <a:avLst/>
          </a:prstGeom>
          <a:noFill/>
          <a:ln w="9525">
            <a:noFill/>
            <a:miter lim="800000"/>
            <a:headEnd/>
            <a:tailEnd/>
          </a:ln>
          <a:effectLst/>
        </p:spPr>
        <p:txBody>
          <a:bodyPr vert="horz" wrap="square" lIns="95562" tIns="47781" rIns="95562" bIns="47781" numCol="1" anchor="b" anchorCtr="0" compatLnSpc="1">
            <a:prstTxWarp prst="textNoShape">
              <a:avLst/>
            </a:prstTxWarp>
          </a:bodyPr>
          <a:lstStyle>
            <a:lvl1pPr defTabSz="955731">
              <a:defRPr sz="1300" b="0">
                <a:latin typeface="Arial" charset="0"/>
                <a:cs typeface="Arial" charset="0"/>
              </a:defRPr>
            </a:lvl1pPr>
          </a:lstStyle>
          <a:p>
            <a:pPr>
              <a:defRPr/>
            </a:pPr>
            <a:endParaRPr lang="en-GB"/>
          </a:p>
        </p:txBody>
      </p:sp>
      <p:sp>
        <p:nvSpPr>
          <p:cNvPr id="172037" name="Rectangle 5"/>
          <p:cNvSpPr>
            <a:spLocks noGrp="1" noChangeArrowheads="1"/>
          </p:cNvSpPr>
          <p:nvPr>
            <p:ph type="sldNum" sz="quarter" idx="3"/>
          </p:nvPr>
        </p:nvSpPr>
        <p:spPr bwMode="auto">
          <a:xfrm>
            <a:off x="3849688" y="9429750"/>
            <a:ext cx="2946400" cy="495300"/>
          </a:xfrm>
          <a:prstGeom prst="rect">
            <a:avLst/>
          </a:prstGeom>
          <a:noFill/>
          <a:ln w="9525">
            <a:noFill/>
            <a:miter lim="800000"/>
            <a:headEnd/>
            <a:tailEnd/>
          </a:ln>
          <a:effectLst/>
        </p:spPr>
        <p:txBody>
          <a:bodyPr vert="horz" wrap="square" lIns="95562" tIns="47781" rIns="95562" bIns="47781" numCol="1" anchor="b" anchorCtr="0" compatLnSpc="1">
            <a:prstTxWarp prst="textNoShape">
              <a:avLst/>
            </a:prstTxWarp>
          </a:bodyPr>
          <a:lstStyle>
            <a:lvl1pPr algn="r" defTabSz="955731">
              <a:defRPr sz="1300" b="0">
                <a:latin typeface="Arial" charset="0"/>
                <a:cs typeface="Arial" charset="0"/>
              </a:defRPr>
            </a:lvl1pPr>
          </a:lstStyle>
          <a:p>
            <a:pPr>
              <a:defRPr/>
            </a:pPr>
            <a:fld id="{EE436809-200C-4F0A-BA41-8B267F0B5F20}" type="slidenum">
              <a:rPr lang="en-GB"/>
              <a:pPr>
                <a:defRPr/>
              </a:pPr>
              <a:t>‹#›</a:t>
            </a:fld>
            <a:endParaRPr lang="en-GB"/>
          </a:p>
        </p:txBody>
      </p:sp>
    </p:spTree>
    <p:extLst>
      <p:ext uri="{BB962C8B-B14F-4D97-AF65-F5344CB8AC3E}">
        <p14:creationId xmlns:p14="http://schemas.microsoft.com/office/powerpoint/2010/main" val="22854840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46400" cy="495300"/>
          </a:xfrm>
          <a:prstGeom prst="rect">
            <a:avLst/>
          </a:prstGeom>
          <a:noFill/>
          <a:ln w="9525">
            <a:noFill/>
            <a:miter lim="800000"/>
            <a:headEnd/>
            <a:tailEnd/>
          </a:ln>
          <a:effectLst/>
        </p:spPr>
        <p:txBody>
          <a:bodyPr vert="horz" wrap="square" lIns="95562" tIns="47781" rIns="95562" bIns="47781" numCol="1" anchor="t" anchorCtr="0" compatLnSpc="1">
            <a:prstTxWarp prst="textNoShape">
              <a:avLst/>
            </a:prstTxWarp>
          </a:bodyPr>
          <a:lstStyle>
            <a:lvl1pPr defTabSz="955731">
              <a:defRPr sz="1300" b="0">
                <a:latin typeface="Arial" charset="0"/>
                <a:cs typeface="Arial" charset="0"/>
              </a:defRPr>
            </a:lvl1pPr>
          </a:lstStyle>
          <a:p>
            <a:pPr>
              <a:defRPr/>
            </a:pPr>
            <a:endParaRPr lang="en-US"/>
          </a:p>
        </p:txBody>
      </p:sp>
      <p:sp>
        <p:nvSpPr>
          <p:cNvPr id="6147" name="Rectangle 3"/>
          <p:cNvSpPr>
            <a:spLocks noGrp="1" noChangeArrowheads="1"/>
          </p:cNvSpPr>
          <p:nvPr>
            <p:ph type="dt" idx="1"/>
          </p:nvPr>
        </p:nvSpPr>
        <p:spPr bwMode="auto">
          <a:xfrm>
            <a:off x="3849688" y="0"/>
            <a:ext cx="2946400" cy="495300"/>
          </a:xfrm>
          <a:prstGeom prst="rect">
            <a:avLst/>
          </a:prstGeom>
          <a:noFill/>
          <a:ln w="9525">
            <a:noFill/>
            <a:miter lim="800000"/>
            <a:headEnd/>
            <a:tailEnd/>
          </a:ln>
          <a:effectLst/>
        </p:spPr>
        <p:txBody>
          <a:bodyPr vert="horz" wrap="square" lIns="95562" tIns="47781" rIns="95562" bIns="47781" numCol="1" anchor="t" anchorCtr="0" compatLnSpc="1">
            <a:prstTxWarp prst="textNoShape">
              <a:avLst/>
            </a:prstTxWarp>
          </a:bodyPr>
          <a:lstStyle>
            <a:lvl1pPr algn="r" defTabSz="955731">
              <a:defRPr sz="1300" b="0">
                <a:latin typeface="Arial" charset="0"/>
                <a:cs typeface="Arial" charset="0"/>
              </a:defRPr>
            </a:lvl1pPr>
          </a:lstStyle>
          <a:p>
            <a:pPr>
              <a:defRPr/>
            </a:pPr>
            <a:endParaRPr lang="en-US"/>
          </a:p>
        </p:txBody>
      </p:sp>
      <p:sp>
        <p:nvSpPr>
          <p:cNvPr id="43012"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79450" y="4714875"/>
            <a:ext cx="5438775" cy="4467225"/>
          </a:xfrm>
          <a:prstGeom prst="rect">
            <a:avLst/>
          </a:prstGeom>
          <a:noFill/>
          <a:ln w="9525">
            <a:noFill/>
            <a:miter lim="800000"/>
            <a:headEnd/>
            <a:tailEnd/>
          </a:ln>
          <a:effectLst/>
        </p:spPr>
        <p:txBody>
          <a:bodyPr vert="horz" wrap="square" lIns="95562" tIns="47781" rIns="95562" bIns="47781" numCol="1" anchor="t" anchorCtr="0" compatLnSpc="1">
            <a:prstTxWarp prst="textNoShape">
              <a:avLst/>
            </a:prstTxWarp>
          </a:bodyPr>
          <a:lstStyle/>
          <a:p>
            <a:pPr lvl="0"/>
            <a:r>
              <a:rPr lang="fr-FR" noProof="0" smtClean="0"/>
              <a:t>Cliquez pour modifier les styles du texte du masque</a:t>
            </a:r>
          </a:p>
          <a:p>
            <a:pPr lvl="1"/>
            <a:r>
              <a:rPr lang="fr-FR" noProof="0" smtClean="0"/>
              <a:t>Deuxième niveau</a:t>
            </a:r>
          </a:p>
          <a:p>
            <a:pPr lvl="2"/>
            <a:r>
              <a:rPr lang="fr-FR" noProof="0" smtClean="0"/>
              <a:t>Troisième niveau</a:t>
            </a:r>
          </a:p>
          <a:p>
            <a:pPr lvl="3"/>
            <a:r>
              <a:rPr lang="fr-FR" noProof="0" smtClean="0"/>
              <a:t>Quatrième niveau</a:t>
            </a:r>
          </a:p>
          <a:p>
            <a:pPr lvl="4"/>
            <a:r>
              <a:rPr lang="fr-FR" noProof="0" smtClean="0"/>
              <a:t>Cinquième niveau</a:t>
            </a:r>
          </a:p>
        </p:txBody>
      </p:sp>
      <p:sp>
        <p:nvSpPr>
          <p:cNvPr id="6150" name="Rectangle 6"/>
          <p:cNvSpPr>
            <a:spLocks noGrp="1" noChangeArrowheads="1"/>
          </p:cNvSpPr>
          <p:nvPr>
            <p:ph type="ftr" sz="quarter" idx="4"/>
          </p:nvPr>
        </p:nvSpPr>
        <p:spPr bwMode="auto">
          <a:xfrm>
            <a:off x="0" y="9429750"/>
            <a:ext cx="2946400" cy="495300"/>
          </a:xfrm>
          <a:prstGeom prst="rect">
            <a:avLst/>
          </a:prstGeom>
          <a:noFill/>
          <a:ln w="9525">
            <a:noFill/>
            <a:miter lim="800000"/>
            <a:headEnd/>
            <a:tailEnd/>
          </a:ln>
          <a:effectLst/>
        </p:spPr>
        <p:txBody>
          <a:bodyPr vert="horz" wrap="square" lIns="95562" tIns="47781" rIns="95562" bIns="47781" numCol="1" anchor="b" anchorCtr="0" compatLnSpc="1">
            <a:prstTxWarp prst="textNoShape">
              <a:avLst/>
            </a:prstTxWarp>
          </a:bodyPr>
          <a:lstStyle>
            <a:lvl1pPr defTabSz="955731">
              <a:defRPr sz="1300" b="0">
                <a:latin typeface="Arial" charset="0"/>
                <a:cs typeface="Arial" charset="0"/>
              </a:defRPr>
            </a:lvl1pPr>
          </a:lstStyle>
          <a:p>
            <a:pPr>
              <a:defRPr/>
            </a:pPr>
            <a:endParaRPr lang="en-US"/>
          </a:p>
        </p:txBody>
      </p:sp>
      <p:sp>
        <p:nvSpPr>
          <p:cNvPr id="6151" name="Rectangle 7"/>
          <p:cNvSpPr>
            <a:spLocks noGrp="1" noChangeArrowheads="1"/>
          </p:cNvSpPr>
          <p:nvPr>
            <p:ph type="sldNum" sz="quarter" idx="5"/>
          </p:nvPr>
        </p:nvSpPr>
        <p:spPr bwMode="auto">
          <a:xfrm>
            <a:off x="3849688" y="9429750"/>
            <a:ext cx="2946400" cy="495300"/>
          </a:xfrm>
          <a:prstGeom prst="rect">
            <a:avLst/>
          </a:prstGeom>
          <a:noFill/>
          <a:ln w="9525">
            <a:noFill/>
            <a:miter lim="800000"/>
            <a:headEnd/>
            <a:tailEnd/>
          </a:ln>
          <a:effectLst/>
        </p:spPr>
        <p:txBody>
          <a:bodyPr vert="horz" wrap="square" lIns="95562" tIns="47781" rIns="95562" bIns="47781" numCol="1" anchor="b" anchorCtr="0" compatLnSpc="1">
            <a:prstTxWarp prst="textNoShape">
              <a:avLst/>
            </a:prstTxWarp>
          </a:bodyPr>
          <a:lstStyle>
            <a:lvl1pPr algn="r" defTabSz="955731">
              <a:defRPr sz="1300" b="0">
                <a:latin typeface="Arial" charset="0"/>
                <a:cs typeface="Arial" charset="0"/>
              </a:defRPr>
            </a:lvl1pPr>
          </a:lstStyle>
          <a:p>
            <a:pPr>
              <a:defRPr/>
            </a:pPr>
            <a:fld id="{A6075FA5-F43E-4ED1-B4CF-DD27C37DF7F7}" type="slidenum">
              <a:rPr lang="fr-FR"/>
              <a:pPr>
                <a:defRPr/>
              </a:pPr>
              <a:t>‹#›</a:t>
            </a:fld>
            <a:endParaRPr lang="fr-FR"/>
          </a:p>
        </p:txBody>
      </p:sp>
    </p:spTree>
    <p:extLst>
      <p:ext uri="{BB962C8B-B14F-4D97-AF65-F5344CB8AC3E}">
        <p14:creationId xmlns:p14="http://schemas.microsoft.com/office/powerpoint/2010/main" val="84449919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pPr defTabSz="955675"/>
            <a:fld id="{6C66D986-F0EE-4E60-BC0F-E4C06624D3EF}" type="slidenum">
              <a:rPr lang="fr-FR" smtClean="0">
                <a:latin typeface="Arial" pitchFamily="34" charset="0"/>
                <a:cs typeface="Arial" pitchFamily="34" charset="0"/>
              </a:rPr>
              <a:pPr defTabSz="955675"/>
              <a:t>1</a:t>
            </a:fld>
            <a:endParaRPr lang="fr-FR" dirty="0" smtClean="0">
              <a:latin typeface="Arial" pitchFamily="34" charset="0"/>
              <a:cs typeface="Arial" pitchFamily="34"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endParaRPr lang="en-US" dirty="0" smtClean="0">
              <a:latin typeface="Arial" pitchFamily="34" charset="0"/>
              <a:ea typeface="ＭＳ Ｐゴシック" pitchFamily="34" charset="-128"/>
            </a:endParaRPr>
          </a:p>
        </p:txBody>
      </p:sp>
    </p:spTree>
    <p:extLst>
      <p:ext uri="{BB962C8B-B14F-4D97-AF65-F5344CB8AC3E}">
        <p14:creationId xmlns:p14="http://schemas.microsoft.com/office/powerpoint/2010/main" val="4090018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 this slide we present a schema for how the cycle</a:t>
            </a:r>
            <a:r>
              <a:rPr lang="en-GB" baseline="0" dirty="0" smtClean="0"/>
              <a:t> could work – and for example how and </a:t>
            </a:r>
            <a:r>
              <a:rPr lang="en-GB" u="sng" baseline="0" dirty="0" smtClean="0"/>
              <a:t>when</a:t>
            </a:r>
            <a:r>
              <a:rPr lang="en-GB" baseline="0" dirty="0" smtClean="0"/>
              <a:t> the mechanism for the transparency of action can feed into the cycle. </a:t>
            </a:r>
          </a:p>
          <a:p>
            <a:endParaRPr lang="en-GB" baseline="0" dirty="0" smtClean="0"/>
          </a:p>
          <a:p>
            <a:r>
              <a:rPr lang="en-GB" baseline="0" dirty="0" smtClean="0"/>
              <a:t>The process starts with the contributions that countries are currently preparing, framed and supported by the regime on means of implementation. </a:t>
            </a:r>
          </a:p>
          <a:p>
            <a:endParaRPr lang="en-GB" baseline="0" dirty="0" smtClean="0"/>
          </a:p>
          <a:p>
            <a:r>
              <a:rPr lang="en-GB" baseline="0" dirty="0" smtClean="0"/>
              <a:t>Once contributions are prepared, there would be a process to assess the adequacy of the contributions. It should be noted that this process can probably take place both inside and outside the UNFCCC. There should be a consultation in the UNFCCC, as many have proposed. It’s an open question whether there will be time and political scope for more before Paris. But there will also be researchers and experts that can help us to form an idea of the collective and individual adequacy of contributions. It’s also an open question of whether this process could result in revisions to contributions</a:t>
            </a:r>
            <a:r>
              <a:rPr lang="en-GB" i="1" baseline="0" dirty="0" smtClean="0"/>
              <a:t> in T1.</a:t>
            </a:r>
            <a:r>
              <a:rPr lang="en-GB" baseline="0" dirty="0" smtClean="0"/>
              <a:t> </a:t>
            </a:r>
          </a:p>
          <a:p>
            <a:endParaRPr lang="en-GB" baseline="0" dirty="0" smtClean="0"/>
          </a:p>
          <a:p>
            <a:r>
              <a:rPr lang="en-GB" baseline="0" dirty="0" smtClean="0"/>
              <a:t>Once determined, contributions would be implemented and there would be a process to ensure the transparency of action. </a:t>
            </a:r>
          </a:p>
          <a:p>
            <a:endParaRPr lang="en-GB" baseline="0" dirty="0" smtClean="0"/>
          </a:p>
          <a:p>
            <a:r>
              <a:rPr lang="en-GB" baseline="0" dirty="0" smtClean="0"/>
              <a:t>It is important to consider the implications of a short ‘contribution cycle’ for the role of the transparency process. Imagine we have a very short cycle of contributions, for example every 5 years. That means that we are back at the table well before the current period has ended (or indeed started). This is the case we have now, negotiating in 2015 contributions for post 2020, before the pre 2020 period has finished. </a:t>
            </a:r>
          </a:p>
          <a:p>
            <a:endParaRPr lang="en-GB" baseline="0" dirty="0" smtClean="0"/>
          </a:p>
          <a:p>
            <a:r>
              <a:rPr lang="en-GB" b="1" baseline="0" dirty="0" smtClean="0"/>
              <a:t>A key issue therefore becomes how can the transparency of action process also look forward to provide useful information for subsequent rounds of collective action?</a:t>
            </a:r>
          </a:p>
          <a:p>
            <a:endParaRPr lang="en-GB" b="1" baseline="0" dirty="0" smtClean="0"/>
          </a:p>
          <a:p>
            <a:r>
              <a:rPr lang="en-GB" b="0" baseline="0" dirty="0" smtClean="0"/>
              <a:t>The final step in the cycle is a process of collective and individual learning that would provide an input into the next round of contributions. This could combine elements of capacity building and facilitation, in order to help countries better prepare subsequent contributions, as well as identify on-going successes and difficulties in implementing the current period. </a:t>
            </a:r>
          </a:p>
          <a:p>
            <a:endParaRPr lang="en-GB" b="0" baseline="0" dirty="0" smtClean="0"/>
          </a:p>
          <a:p>
            <a:r>
              <a:rPr lang="en-GB" b="0" baseline="0" dirty="0" smtClean="0"/>
              <a:t>It should be noted that we don’t speak here of compliance. Conceptually, this could be kept separate from the learning and problem solving process. Certainly, it may be useful to have a clear, independent vision </a:t>
            </a:r>
            <a:r>
              <a:rPr lang="en-GB" b="0" i="1" baseline="0" dirty="0" smtClean="0"/>
              <a:t>ex post</a:t>
            </a:r>
            <a:r>
              <a:rPr lang="en-GB" b="0" baseline="0" dirty="0" smtClean="0"/>
              <a:t> of whether a contribution has been achieved, as a minimum. That is a topic for this afternoon.  </a:t>
            </a:r>
          </a:p>
          <a:p>
            <a:endParaRPr lang="en-GB" b="0" baseline="0" dirty="0" smtClean="0"/>
          </a:p>
          <a:p>
            <a:r>
              <a:rPr lang="en-GB" b="0" baseline="0" dirty="0" smtClean="0"/>
              <a:t>  </a:t>
            </a:r>
          </a:p>
          <a:p>
            <a:endParaRPr lang="en-GB" b="0" baseline="0" dirty="0" smtClean="0"/>
          </a:p>
          <a:p>
            <a:r>
              <a:rPr lang="en-GB" baseline="0" dirty="0" smtClean="0"/>
              <a:t> </a:t>
            </a:r>
          </a:p>
          <a:p>
            <a:endParaRPr lang="en-GB" baseline="0" dirty="0" smtClean="0"/>
          </a:p>
        </p:txBody>
      </p:sp>
      <p:sp>
        <p:nvSpPr>
          <p:cNvPr id="4" name="Slide Number Placeholder 3"/>
          <p:cNvSpPr>
            <a:spLocks noGrp="1"/>
          </p:cNvSpPr>
          <p:nvPr>
            <p:ph type="sldNum" sz="quarter" idx="10"/>
          </p:nvPr>
        </p:nvSpPr>
        <p:spPr/>
        <p:txBody>
          <a:bodyPr/>
          <a:lstStyle/>
          <a:p>
            <a:fld id="{8E1C19E3-9AD5-42F6-A933-3561DC50E7D0}" type="slidenum">
              <a:rPr lang="fr-FR" smtClean="0">
                <a:solidFill>
                  <a:prstClr val="black"/>
                </a:solidFill>
              </a:rPr>
              <a:pPr/>
              <a:t>3</a:t>
            </a:fld>
            <a:endParaRPr lang="fr-FR" dirty="0">
              <a:solidFill>
                <a:prstClr val="black"/>
              </a:solidFill>
            </a:endParaRPr>
          </a:p>
        </p:txBody>
      </p:sp>
    </p:spTree>
    <p:extLst>
      <p:ext uri="{BB962C8B-B14F-4D97-AF65-F5344CB8AC3E}">
        <p14:creationId xmlns:p14="http://schemas.microsoft.com/office/powerpoint/2010/main" val="175421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 this slide we present a schema for how the cycle</a:t>
            </a:r>
            <a:r>
              <a:rPr lang="en-GB" baseline="0" dirty="0" smtClean="0"/>
              <a:t> could work – and for example how and </a:t>
            </a:r>
            <a:r>
              <a:rPr lang="en-GB" u="sng" baseline="0" dirty="0" smtClean="0"/>
              <a:t>when</a:t>
            </a:r>
            <a:r>
              <a:rPr lang="en-GB" baseline="0" dirty="0" smtClean="0"/>
              <a:t> the mechanism for the transparency of action can feed into the cycle. </a:t>
            </a:r>
          </a:p>
          <a:p>
            <a:endParaRPr lang="en-GB" baseline="0" dirty="0" smtClean="0"/>
          </a:p>
          <a:p>
            <a:r>
              <a:rPr lang="en-GB" baseline="0" dirty="0" smtClean="0"/>
              <a:t>The process starts with the contributions that countries are currently preparing, framed and supported by the regime on means of implementation. </a:t>
            </a:r>
          </a:p>
          <a:p>
            <a:endParaRPr lang="en-GB" baseline="0" dirty="0" smtClean="0"/>
          </a:p>
          <a:p>
            <a:r>
              <a:rPr lang="en-GB" baseline="0" dirty="0" smtClean="0"/>
              <a:t>Once contributions are prepared, there would be a process to assess the adequacy of the contributions. It should be noted that this process can probably take place both inside and outside the UNFCCC. There should be a consultation in the UNFCCC, as many have proposed. It’s an open question whether there will be time and political scope for more before Paris. But there will also be researchers and experts that can help us to form an idea of the collective and individual adequacy of contributions. It’s also an open question of whether this process could result in revisions to contributions</a:t>
            </a:r>
            <a:r>
              <a:rPr lang="en-GB" i="1" baseline="0" dirty="0" smtClean="0"/>
              <a:t> in T1.</a:t>
            </a:r>
            <a:r>
              <a:rPr lang="en-GB" baseline="0" dirty="0" smtClean="0"/>
              <a:t> </a:t>
            </a:r>
          </a:p>
          <a:p>
            <a:endParaRPr lang="en-GB" baseline="0" dirty="0" smtClean="0"/>
          </a:p>
          <a:p>
            <a:r>
              <a:rPr lang="en-GB" baseline="0" dirty="0" smtClean="0"/>
              <a:t>Once determined, contributions would be implemented and there would be a process to ensure the transparency of action. </a:t>
            </a:r>
          </a:p>
          <a:p>
            <a:endParaRPr lang="en-GB" baseline="0" dirty="0" smtClean="0"/>
          </a:p>
          <a:p>
            <a:r>
              <a:rPr lang="en-GB" baseline="0" dirty="0" smtClean="0"/>
              <a:t>It is important to consider the implications of a short ‘contribution cycle’ for the role of the transparency process. Imagine we have a very short cycle of contributions, for example every 5 years. That means that we are back at the table well before the current period has ended (or indeed started). This is the case we have now, negotiating in 2015 contributions for post 2020, before the pre 2020 period has finished. </a:t>
            </a:r>
          </a:p>
          <a:p>
            <a:endParaRPr lang="en-GB" baseline="0" dirty="0" smtClean="0"/>
          </a:p>
          <a:p>
            <a:r>
              <a:rPr lang="en-GB" b="1" baseline="0" dirty="0" smtClean="0"/>
              <a:t>A key issue therefore becomes how can the transparency of action process also look forward to provide useful information for subsequent rounds of collective action?</a:t>
            </a:r>
          </a:p>
          <a:p>
            <a:endParaRPr lang="en-GB" b="1" baseline="0" dirty="0" smtClean="0"/>
          </a:p>
          <a:p>
            <a:r>
              <a:rPr lang="en-GB" b="0" baseline="0" dirty="0" smtClean="0"/>
              <a:t>The final step in the cycle is a process of collective and individual learning that would provide an input into the next round of contributions. This could combine elements of capacity building and facilitation, in order to help countries better prepare subsequent contributions, as well as identify on-going successes and difficulties in implementing the current period. </a:t>
            </a:r>
          </a:p>
          <a:p>
            <a:endParaRPr lang="en-GB" b="0" baseline="0" dirty="0" smtClean="0"/>
          </a:p>
          <a:p>
            <a:r>
              <a:rPr lang="en-GB" b="0" baseline="0" dirty="0" smtClean="0"/>
              <a:t>It should be noted that we don’t speak here of compliance. Conceptually, this could be kept separate from the learning and problem solving process. Certainly, it may be useful to have a clear, independent vision </a:t>
            </a:r>
            <a:r>
              <a:rPr lang="en-GB" b="0" i="1" baseline="0" dirty="0" smtClean="0"/>
              <a:t>ex post</a:t>
            </a:r>
            <a:r>
              <a:rPr lang="en-GB" b="0" baseline="0" dirty="0" smtClean="0"/>
              <a:t> of whether a contribution has been achieved, as a minimum. That is a topic for this afternoon.  </a:t>
            </a:r>
          </a:p>
          <a:p>
            <a:endParaRPr lang="en-GB" b="0" baseline="0" dirty="0" smtClean="0"/>
          </a:p>
          <a:p>
            <a:r>
              <a:rPr lang="en-GB" b="0" baseline="0" dirty="0" smtClean="0"/>
              <a:t>  </a:t>
            </a:r>
          </a:p>
          <a:p>
            <a:endParaRPr lang="en-GB" b="0" baseline="0" dirty="0" smtClean="0"/>
          </a:p>
          <a:p>
            <a:r>
              <a:rPr lang="en-GB" baseline="0" dirty="0" smtClean="0"/>
              <a:t> </a:t>
            </a:r>
          </a:p>
          <a:p>
            <a:endParaRPr lang="en-GB" baseline="0" dirty="0" smtClean="0"/>
          </a:p>
        </p:txBody>
      </p:sp>
      <p:sp>
        <p:nvSpPr>
          <p:cNvPr id="4" name="Slide Number Placeholder 3"/>
          <p:cNvSpPr>
            <a:spLocks noGrp="1"/>
          </p:cNvSpPr>
          <p:nvPr>
            <p:ph type="sldNum" sz="quarter" idx="10"/>
          </p:nvPr>
        </p:nvSpPr>
        <p:spPr/>
        <p:txBody>
          <a:bodyPr/>
          <a:lstStyle/>
          <a:p>
            <a:fld id="{8E1C19E3-9AD5-42F6-A933-3561DC50E7D0}" type="slidenum">
              <a:rPr lang="fr-FR" smtClean="0">
                <a:solidFill>
                  <a:prstClr val="black"/>
                </a:solidFill>
              </a:rPr>
              <a:pPr/>
              <a:t>4</a:t>
            </a:fld>
            <a:endParaRPr lang="fr-FR" dirty="0">
              <a:solidFill>
                <a:prstClr val="black"/>
              </a:solidFill>
            </a:endParaRPr>
          </a:p>
        </p:txBody>
      </p:sp>
    </p:spTree>
    <p:extLst>
      <p:ext uri="{BB962C8B-B14F-4D97-AF65-F5344CB8AC3E}">
        <p14:creationId xmlns:p14="http://schemas.microsoft.com/office/powerpoint/2010/main" val="1754217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 this slide we present a schema for how the cycle</a:t>
            </a:r>
            <a:r>
              <a:rPr lang="en-GB" baseline="0" dirty="0" smtClean="0"/>
              <a:t> could work – and for example how and </a:t>
            </a:r>
            <a:r>
              <a:rPr lang="en-GB" u="sng" baseline="0" dirty="0" smtClean="0"/>
              <a:t>when</a:t>
            </a:r>
            <a:r>
              <a:rPr lang="en-GB" baseline="0" dirty="0" smtClean="0"/>
              <a:t> the mechanism for the transparency of action can feed into the cycle. </a:t>
            </a:r>
          </a:p>
          <a:p>
            <a:endParaRPr lang="en-GB" baseline="0" dirty="0" smtClean="0"/>
          </a:p>
          <a:p>
            <a:r>
              <a:rPr lang="en-GB" baseline="0" dirty="0" smtClean="0"/>
              <a:t>The process starts with the contributions that countries are currently preparing, framed and supported by the regime on means of implementation. </a:t>
            </a:r>
          </a:p>
          <a:p>
            <a:endParaRPr lang="en-GB" baseline="0" dirty="0" smtClean="0"/>
          </a:p>
          <a:p>
            <a:r>
              <a:rPr lang="en-GB" baseline="0" dirty="0" smtClean="0"/>
              <a:t>Once contributions are prepared, there would be a process to assess the adequacy of the contributions. It should be noted that this process can probably take place both inside and outside the UNFCCC. There should be a consultation in the UNFCCC, as many have proposed. It’s an open question whether there will be time and political scope for more before Paris. But there will also be researchers and experts that can help us to form an idea of the collective and individual adequacy of contributions. It’s also an open question of whether this process could result in revisions to contributions</a:t>
            </a:r>
            <a:r>
              <a:rPr lang="en-GB" i="1" baseline="0" dirty="0" smtClean="0"/>
              <a:t> in T1.</a:t>
            </a:r>
            <a:r>
              <a:rPr lang="en-GB" baseline="0" dirty="0" smtClean="0"/>
              <a:t> </a:t>
            </a:r>
          </a:p>
          <a:p>
            <a:endParaRPr lang="en-GB" baseline="0" dirty="0" smtClean="0"/>
          </a:p>
          <a:p>
            <a:r>
              <a:rPr lang="en-GB" baseline="0" dirty="0" smtClean="0"/>
              <a:t>Once determined, contributions would be implemented and there would be a process to ensure the transparency of action. </a:t>
            </a:r>
          </a:p>
          <a:p>
            <a:endParaRPr lang="en-GB" baseline="0" dirty="0" smtClean="0"/>
          </a:p>
          <a:p>
            <a:r>
              <a:rPr lang="en-GB" baseline="0" dirty="0" smtClean="0"/>
              <a:t>It is important to consider the implications of a short ‘contribution cycle’ for the role of the transparency process. Imagine we have a very short cycle of contributions, for example every 5 years. That means that we are back at the table well before the current period has ended (or indeed started). This is the case we have now, negotiating in 2015 contributions for post 2020, before the pre 2020 period has finished. </a:t>
            </a:r>
          </a:p>
          <a:p>
            <a:endParaRPr lang="en-GB" baseline="0" dirty="0" smtClean="0"/>
          </a:p>
          <a:p>
            <a:r>
              <a:rPr lang="en-GB" b="1" baseline="0" dirty="0" smtClean="0"/>
              <a:t>A key issue therefore becomes how can the transparency of action process also look forward to provide useful information for subsequent rounds of collective action?</a:t>
            </a:r>
          </a:p>
          <a:p>
            <a:endParaRPr lang="en-GB" b="1" baseline="0" dirty="0" smtClean="0"/>
          </a:p>
          <a:p>
            <a:r>
              <a:rPr lang="en-GB" b="0" baseline="0" dirty="0" smtClean="0"/>
              <a:t>The final step in the cycle is a process of collective and individual learning that would provide an input into the next round of contributions. This could combine elements of capacity building and facilitation, in order to help countries better prepare subsequent contributions, as well as identify on-going successes and difficulties in implementing the current period. </a:t>
            </a:r>
          </a:p>
          <a:p>
            <a:endParaRPr lang="en-GB" b="0" baseline="0" dirty="0" smtClean="0"/>
          </a:p>
          <a:p>
            <a:r>
              <a:rPr lang="en-GB" b="0" baseline="0" dirty="0" smtClean="0"/>
              <a:t>It should be noted that we don’t speak here of compliance. Conceptually, this could be kept separate from the learning and problem solving process. Certainly, it may be useful to have a clear, independent vision </a:t>
            </a:r>
            <a:r>
              <a:rPr lang="en-GB" b="0" i="1" baseline="0" dirty="0" smtClean="0"/>
              <a:t>ex post</a:t>
            </a:r>
            <a:r>
              <a:rPr lang="en-GB" b="0" baseline="0" dirty="0" smtClean="0"/>
              <a:t> of whether a contribution has been achieved, as a minimum. That is a topic for this afternoon.  </a:t>
            </a:r>
          </a:p>
          <a:p>
            <a:endParaRPr lang="en-GB" b="0" baseline="0" dirty="0" smtClean="0"/>
          </a:p>
          <a:p>
            <a:r>
              <a:rPr lang="en-GB" b="0" baseline="0" dirty="0" smtClean="0"/>
              <a:t>  </a:t>
            </a:r>
          </a:p>
          <a:p>
            <a:endParaRPr lang="en-GB" b="0" baseline="0" dirty="0" smtClean="0"/>
          </a:p>
          <a:p>
            <a:r>
              <a:rPr lang="en-GB" baseline="0" dirty="0" smtClean="0"/>
              <a:t> </a:t>
            </a:r>
          </a:p>
          <a:p>
            <a:endParaRPr lang="en-GB" baseline="0" dirty="0" smtClean="0"/>
          </a:p>
        </p:txBody>
      </p:sp>
      <p:sp>
        <p:nvSpPr>
          <p:cNvPr id="4" name="Slide Number Placeholder 3"/>
          <p:cNvSpPr>
            <a:spLocks noGrp="1"/>
          </p:cNvSpPr>
          <p:nvPr>
            <p:ph type="sldNum" sz="quarter" idx="10"/>
          </p:nvPr>
        </p:nvSpPr>
        <p:spPr/>
        <p:txBody>
          <a:bodyPr/>
          <a:lstStyle/>
          <a:p>
            <a:fld id="{8E1C19E3-9AD5-42F6-A933-3561DC50E7D0}" type="slidenum">
              <a:rPr lang="fr-FR" smtClean="0">
                <a:solidFill>
                  <a:prstClr val="black"/>
                </a:solidFill>
              </a:rPr>
              <a:pPr/>
              <a:t>5</a:t>
            </a:fld>
            <a:endParaRPr lang="fr-FR" dirty="0">
              <a:solidFill>
                <a:prstClr val="black"/>
              </a:solidFill>
            </a:endParaRPr>
          </a:p>
        </p:txBody>
      </p:sp>
    </p:spTree>
    <p:extLst>
      <p:ext uri="{BB962C8B-B14F-4D97-AF65-F5344CB8AC3E}">
        <p14:creationId xmlns:p14="http://schemas.microsoft.com/office/powerpoint/2010/main" val="1754217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 this slide we present a schema for how the cycle</a:t>
            </a:r>
            <a:r>
              <a:rPr lang="en-GB" baseline="0" dirty="0" smtClean="0"/>
              <a:t> could work – and for example how and </a:t>
            </a:r>
            <a:r>
              <a:rPr lang="en-GB" u="sng" baseline="0" dirty="0" smtClean="0"/>
              <a:t>when</a:t>
            </a:r>
            <a:r>
              <a:rPr lang="en-GB" baseline="0" dirty="0" smtClean="0"/>
              <a:t> the mechanism for the transparency of action can feed into the cycle. </a:t>
            </a:r>
          </a:p>
          <a:p>
            <a:endParaRPr lang="en-GB" baseline="0" dirty="0" smtClean="0"/>
          </a:p>
          <a:p>
            <a:r>
              <a:rPr lang="en-GB" baseline="0" dirty="0" smtClean="0"/>
              <a:t>The process starts with the contributions that countries are currently preparing, framed and supported by the regime on means of implementation. </a:t>
            </a:r>
          </a:p>
          <a:p>
            <a:endParaRPr lang="en-GB" baseline="0" dirty="0" smtClean="0"/>
          </a:p>
          <a:p>
            <a:r>
              <a:rPr lang="en-GB" baseline="0" dirty="0" smtClean="0"/>
              <a:t>Once contributions are prepared, there would be a process to assess the adequacy of the contributions. It should be noted that this process can probably take place both inside and outside the UNFCCC. There should be a consultation in the UNFCCC, as many have proposed. It’s an open question whether there will be time and political scope for more before Paris. But there will also be researchers and experts that can help us to form an idea of the collective and individual adequacy of contributions. It’s also an open question of whether this process could result in revisions to contributions</a:t>
            </a:r>
            <a:r>
              <a:rPr lang="en-GB" i="1" baseline="0" dirty="0" smtClean="0"/>
              <a:t> in T1.</a:t>
            </a:r>
            <a:r>
              <a:rPr lang="en-GB" baseline="0" dirty="0" smtClean="0"/>
              <a:t> </a:t>
            </a:r>
          </a:p>
          <a:p>
            <a:endParaRPr lang="en-GB" baseline="0" dirty="0" smtClean="0"/>
          </a:p>
          <a:p>
            <a:r>
              <a:rPr lang="en-GB" baseline="0" dirty="0" smtClean="0"/>
              <a:t>Once determined, contributions would be implemented and there would be a process to ensure the transparency of action. </a:t>
            </a:r>
          </a:p>
          <a:p>
            <a:endParaRPr lang="en-GB" baseline="0" dirty="0" smtClean="0"/>
          </a:p>
          <a:p>
            <a:r>
              <a:rPr lang="en-GB" baseline="0" dirty="0" smtClean="0"/>
              <a:t>It is important to consider the implications of a short ‘contribution cycle’ for the role of the transparency process. Imagine we have a very short cycle of contributions, for example every 5 years. That means that we are back at the table well before the current period has ended (or indeed started). This is the case we have now, negotiating in 2015 contributions for post 2020, before the pre 2020 period has finished. </a:t>
            </a:r>
          </a:p>
          <a:p>
            <a:endParaRPr lang="en-GB" baseline="0" dirty="0" smtClean="0"/>
          </a:p>
          <a:p>
            <a:r>
              <a:rPr lang="en-GB" b="1" baseline="0" dirty="0" smtClean="0"/>
              <a:t>A key issue therefore becomes how can the transparency of action process also look forward to provide useful information for subsequent rounds of collective action?</a:t>
            </a:r>
          </a:p>
          <a:p>
            <a:endParaRPr lang="en-GB" b="1" baseline="0" dirty="0" smtClean="0"/>
          </a:p>
          <a:p>
            <a:r>
              <a:rPr lang="en-GB" b="0" baseline="0" dirty="0" smtClean="0"/>
              <a:t>The final step in the cycle is a process of collective and individual learning that would provide an input into the next round of contributions. This could combine elements of capacity building and facilitation, in order to help countries better prepare subsequent contributions, as well as identify on-going successes and difficulties in implementing the current period. </a:t>
            </a:r>
          </a:p>
          <a:p>
            <a:endParaRPr lang="en-GB" b="0" baseline="0" dirty="0" smtClean="0"/>
          </a:p>
          <a:p>
            <a:r>
              <a:rPr lang="en-GB" b="0" baseline="0" dirty="0" smtClean="0"/>
              <a:t>It should be noted that we don’t speak here of compliance. Conceptually, this could be kept separate from the learning and problem solving process. Certainly, it may be useful to have a clear, independent vision </a:t>
            </a:r>
            <a:r>
              <a:rPr lang="en-GB" b="0" i="1" baseline="0" dirty="0" smtClean="0"/>
              <a:t>ex post</a:t>
            </a:r>
            <a:r>
              <a:rPr lang="en-GB" b="0" baseline="0" dirty="0" smtClean="0"/>
              <a:t> of whether a contribution has been achieved, as a minimum. That is a topic for this afternoon.  </a:t>
            </a:r>
          </a:p>
          <a:p>
            <a:endParaRPr lang="en-GB" b="0" baseline="0" dirty="0" smtClean="0"/>
          </a:p>
          <a:p>
            <a:r>
              <a:rPr lang="en-GB" b="0" baseline="0" dirty="0" smtClean="0"/>
              <a:t>  </a:t>
            </a:r>
          </a:p>
          <a:p>
            <a:endParaRPr lang="en-GB" b="0" baseline="0" dirty="0" smtClean="0"/>
          </a:p>
          <a:p>
            <a:r>
              <a:rPr lang="en-GB" baseline="0" dirty="0" smtClean="0"/>
              <a:t> </a:t>
            </a:r>
          </a:p>
          <a:p>
            <a:endParaRPr lang="en-GB" baseline="0" dirty="0" smtClean="0"/>
          </a:p>
        </p:txBody>
      </p:sp>
      <p:sp>
        <p:nvSpPr>
          <p:cNvPr id="4" name="Slide Number Placeholder 3"/>
          <p:cNvSpPr>
            <a:spLocks noGrp="1"/>
          </p:cNvSpPr>
          <p:nvPr>
            <p:ph type="sldNum" sz="quarter" idx="10"/>
          </p:nvPr>
        </p:nvSpPr>
        <p:spPr/>
        <p:txBody>
          <a:bodyPr/>
          <a:lstStyle/>
          <a:p>
            <a:fld id="{8E1C19E3-9AD5-42F6-A933-3561DC50E7D0}" type="slidenum">
              <a:rPr lang="fr-FR" smtClean="0">
                <a:solidFill>
                  <a:prstClr val="black"/>
                </a:solidFill>
              </a:rPr>
              <a:pPr/>
              <a:t>6</a:t>
            </a:fld>
            <a:endParaRPr lang="fr-FR" dirty="0">
              <a:solidFill>
                <a:prstClr val="black"/>
              </a:solidFill>
            </a:endParaRPr>
          </a:p>
        </p:txBody>
      </p:sp>
    </p:spTree>
    <p:extLst>
      <p:ext uri="{BB962C8B-B14F-4D97-AF65-F5344CB8AC3E}">
        <p14:creationId xmlns:p14="http://schemas.microsoft.com/office/powerpoint/2010/main" val="1754217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 this slide we present a schema for how the cycle</a:t>
            </a:r>
            <a:r>
              <a:rPr lang="en-GB" baseline="0" dirty="0" smtClean="0"/>
              <a:t> could work – and for example how and </a:t>
            </a:r>
            <a:r>
              <a:rPr lang="en-GB" u="sng" baseline="0" dirty="0" smtClean="0"/>
              <a:t>when</a:t>
            </a:r>
            <a:r>
              <a:rPr lang="en-GB" baseline="0" dirty="0" smtClean="0"/>
              <a:t> the mechanism for the transparency of action can feed into the cycle. </a:t>
            </a:r>
          </a:p>
          <a:p>
            <a:endParaRPr lang="en-GB" baseline="0" dirty="0" smtClean="0"/>
          </a:p>
          <a:p>
            <a:r>
              <a:rPr lang="en-GB" baseline="0" dirty="0" smtClean="0"/>
              <a:t>The process starts with the contributions that countries are currently preparing, framed and supported by the regime on means of implementation. </a:t>
            </a:r>
          </a:p>
          <a:p>
            <a:endParaRPr lang="en-GB" baseline="0" dirty="0" smtClean="0"/>
          </a:p>
          <a:p>
            <a:r>
              <a:rPr lang="en-GB" baseline="0" dirty="0" smtClean="0"/>
              <a:t>Once contributions are prepared, there would be a process to assess the adequacy of the contributions. It should be noted that this process can probably take place both inside and outside the UNFCCC. There should be a consultation in the UNFCCC, as many have proposed. It’s an open question whether there will be time and political scope for more before Paris. But there will also be researchers and experts that can help us to form an idea of the collective and individual adequacy of contributions. It’s also an open question of whether this process could result in revisions to contributions</a:t>
            </a:r>
            <a:r>
              <a:rPr lang="en-GB" i="1" baseline="0" dirty="0" smtClean="0"/>
              <a:t> in T1.</a:t>
            </a:r>
            <a:r>
              <a:rPr lang="en-GB" baseline="0" dirty="0" smtClean="0"/>
              <a:t> </a:t>
            </a:r>
          </a:p>
          <a:p>
            <a:endParaRPr lang="en-GB" baseline="0" dirty="0" smtClean="0"/>
          </a:p>
          <a:p>
            <a:r>
              <a:rPr lang="en-GB" baseline="0" dirty="0" smtClean="0"/>
              <a:t>Once determined, contributions would be implemented and there would be a process to ensure the transparency of action. </a:t>
            </a:r>
          </a:p>
          <a:p>
            <a:endParaRPr lang="en-GB" baseline="0" dirty="0" smtClean="0"/>
          </a:p>
          <a:p>
            <a:r>
              <a:rPr lang="en-GB" baseline="0" dirty="0" smtClean="0"/>
              <a:t>It is important to consider the implications of a short ‘contribution cycle’ for the role of the transparency process. Imagine we have a very short cycle of contributions, for example every 5 years. That means that we are back at the table well before the current period has ended (or indeed started). This is the case we have now, negotiating in 2015 contributions for post 2020, before the pre 2020 period has finished. </a:t>
            </a:r>
          </a:p>
          <a:p>
            <a:endParaRPr lang="en-GB" baseline="0" dirty="0" smtClean="0"/>
          </a:p>
          <a:p>
            <a:r>
              <a:rPr lang="en-GB" b="1" baseline="0" dirty="0" smtClean="0"/>
              <a:t>A key issue therefore becomes how can the transparency of action process also look forward to provide useful information for subsequent rounds of collective action?</a:t>
            </a:r>
          </a:p>
          <a:p>
            <a:endParaRPr lang="en-GB" b="1" baseline="0" dirty="0" smtClean="0"/>
          </a:p>
          <a:p>
            <a:r>
              <a:rPr lang="en-GB" b="0" baseline="0" dirty="0" smtClean="0"/>
              <a:t>The final step in the cycle is a process of collective and individual learning that would provide an input into the next round of contributions. This could combine elements of capacity building and facilitation, in order to help countries better prepare subsequent contributions, as well as identify on-going successes and difficulties in implementing the current period. </a:t>
            </a:r>
          </a:p>
          <a:p>
            <a:endParaRPr lang="en-GB" b="0" baseline="0" dirty="0" smtClean="0"/>
          </a:p>
          <a:p>
            <a:r>
              <a:rPr lang="en-GB" b="0" baseline="0" dirty="0" smtClean="0"/>
              <a:t>It should be noted that we don’t speak here of compliance. Conceptually, this could be kept separate from the learning and problem solving process. Certainly, it may be useful to have a clear, independent vision </a:t>
            </a:r>
            <a:r>
              <a:rPr lang="en-GB" b="0" i="1" baseline="0" dirty="0" smtClean="0"/>
              <a:t>ex post</a:t>
            </a:r>
            <a:r>
              <a:rPr lang="en-GB" b="0" baseline="0" dirty="0" smtClean="0"/>
              <a:t> of whether a contribution has been achieved, as a minimum. That is a topic for this afternoon.  </a:t>
            </a:r>
          </a:p>
          <a:p>
            <a:endParaRPr lang="en-GB" b="0" baseline="0" dirty="0" smtClean="0"/>
          </a:p>
          <a:p>
            <a:r>
              <a:rPr lang="en-GB" b="0" baseline="0" dirty="0" smtClean="0"/>
              <a:t>  </a:t>
            </a:r>
          </a:p>
          <a:p>
            <a:endParaRPr lang="en-GB" b="0" baseline="0" dirty="0" smtClean="0"/>
          </a:p>
          <a:p>
            <a:r>
              <a:rPr lang="en-GB" baseline="0" dirty="0" smtClean="0"/>
              <a:t> </a:t>
            </a:r>
          </a:p>
          <a:p>
            <a:endParaRPr lang="en-GB" baseline="0" dirty="0" smtClean="0"/>
          </a:p>
        </p:txBody>
      </p:sp>
      <p:sp>
        <p:nvSpPr>
          <p:cNvPr id="4" name="Slide Number Placeholder 3"/>
          <p:cNvSpPr>
            <a:spLocks noGrp="1"/>
          </p:cNvSpPr>
          <p:nvPr>
            <p:ph type="sldNum" sz="quarter" idx="10"/>
          </p:nvPr>
        </p:nvSpPr>
        <p:spPr/>
        <p:txBody>
          <a:bodyPr/>
          <a:lstStyle/>
          <a:p>
            <a:fld id="{8E1C19E3-9AD5-42F6-A933-3561DC50E7D0}" type="slidenum">
              <a:rPr lang="fr-FR" smtClean="0">
                <a:solidFill>
                  <a:prstClr val="black"/>
                </a:solidFill>
              </a:rPr>
              <a:pPr/>
              <a:t>7</a:t>
            </a:fld>
            <a:endParaRPr lang="fr-FR" dirty="0">
              <a:solidFill>
                <a:prstClr val="black"/>
              </a:solidFill>
            </a:endParaRPr>
          </a:p>
        </p:txBody>
      </p:sp>
    </p:spTree>
    <p:extLst>
      <p:ext uri="{BB962C8B-B14F-4D97-AF65-F5344CB8AC3E}">
        <p14:creationId xmlns:p14="http://schemas.microsoft.com/office/powerpoint/2010/main" val="175421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 this slide we present a schema for how the cycle</a:t>
            </a:r>
            <a:r>
              <a:rPr lang="en-GB" baseline="0" dirty="0" smtClean="0"/>
              <a:t> could work – and for example how and </a:t>
            </a:r>
            <a:r>
              <a:rPr lang="en-GB" u="sng" baseline="0" dirty="0" smtClean="0"/>
              <a:t>when</a:t>
            </a:r>
            <a:r>
              <a:rPr lang="en-GB" baseline="0" dirty="0" smtClean="0"/>
              <a:t> the mechanism for the transparency of action can feed into the cycle. </a:t>
            </a:r>
          </a:p>
          <a:p>
            <a:endParaRPr lang="en-GB" baseline="0" dirty="0" smtClean="0"/>
          </a:p>
          <a:p>
            <a:r>
              <a:rPr lang="en-GB" baseline="0" dirty="0" smtClean="0"/>
              <a:t>The process starts with the contributions that countries are currently preparing, framed and supported by the regime on means of implementation. </a:t>
            </a:r>
          </a:p>
          <a:p>
            <a:endParaRPr lang="en-GB" baseline="0" dirty="0" smtClean="0"/>
          </a:p>
          <a:p>
            <a:r>
              <a:rPr lang="en-GB" baseline="0" dirty="0" smtClean="0"/>
              <a:t>Once contributions are prepared, there would be a process to assess the adequacy of the contributions. It should be noted that this process can probably take place both inside and outside the UNFCCC. There should be a consultation in the UNFCCC, as many have proposed. It’s an open question whether there will be time and political scope for more before Paris. But there will also be researchers and experts that can help us to form an idea of the collective and individual adequacy of contributions. It’s also an open question of whether this process could result in revisions to contributions</a:t>
            </a:r>
            <a:r>
              <a:rPr lang="en-GB" i="1" baseline="0" dirty="0" smtClean="0"/>
              <a:t> in T1.</a:t>
            </a:r>
            <a:r>
              <a:rPr lang="en-GB" baseline="0" dirty="0" smtClean="0"/>
              <a:t> </a:t>
            </a:r>
          </a:p>
          <a:p>
            <a:endParaRPr lang="en-GB" baseline="0" dirty="0" smtClean="0"/>
          </a:p>
          <a:p>
            <a:r>
              <a:rPr lang="en-GB" baseline="0" dirty="0" smtClean="0"/>
              <a:t>Once determined, contributions would be implemented and there would be a process to ensure the transparency of action. </a:t>
            </a:r>
          </a:p>
          <a:p>
            <a:endParaRPr lang="en-GB" baseline="0" dirty="0" smtClean="0"/>
          </a:p>
          <a:p>
            <a:r>
              <a:rPr lang="en-GB" baseline="0" dirty="0" smtClean="0"/>
              <a:t>It is important to consider the implications of a short ‘contribution cycle’ for the role of the transparency process. Imagine we have a very short cycle of contributions, for example every 5 years. That means that we are back at the table well before the current period has ended (or indeed started). This is the case we have now, negotiating in 2015 contributions for post 2020, before the pre 2020 period has finished. </a:t>
            </a:r>
          </a:p>
          <a:p>
            <a:endParaRPr lang="en-GB" baseline="0" dirty="0" smtClean="0"/>
          </a:p>
          <a:p>
            <a:r>
              <a:rPr lang="en-GB" b="1" baseline="0" dirty="0" smtClean="0"/>
              <a:t>A key issue therefore becomes how can the transparency of action process also look forward to provide useful information for subsequent rounds of collective action?</a:t>
            </a:r>
          </a:p>
          <a:p>
            <a:endParaRPr lang="en-GB" b="1" baseline="0" dirty="0" smtClean="0"/>
          </a:p>
          <a:p>
            <a:r>
              <a:rPr lang="en-GB" b="0" baseline="0" dirty="0" smtClean="0"/>
              <a:t>The final step in the cycle is a process of collective and individual learning that would provide an input into the next round of contributions. This could combine elements of capacity building and facilitation, in order to help countries better prepare subsequent contributions, as well as identify on-going successes and difficulties in implementing the current period. </a:t>
            </a:r>
          </a:p>
          <a:p>
            <a:endParaRPr lang="en-GB" b="0" baseline="0" dirty="0" smtClean="0"/>
          </a:p>
          <a:p>
            <a:r>
              <a:rPr lang="en-GB" b="0" baseline="0" dirty="0" smtClean="0"/>
              <a:t>It should be noted that we don’t speak here of compliance. Conceptually, this could be kept separate from the learning and problem solving process. Certainly, it may be useful to have a clear, independent vision </a:t>
            </a:r>
            <a:r>
              <a:rPr lang="en-GB" b="0" i="1" baseline="0" dirty="0" smtClean="0"/>
              <a:t>ex post</a:t>
            </a:r>
            <a:r>
              <a:rPr lang="en-GB" b="0" baseline="0" dirty="0" smtClean="0"/>
              <a:t> of whether a contribution has been achieved, as a minimum. That is a topic for this afternoon.  </a:t>
            </a:r>
          </a:p>
          <a:p>
            <a:endParaRPr lang="en-GB" b="0" baseline="0" dirty="0" smtClean="0"/>
          </a:p>
          <a:p>
            <a:r>
              <a:rPr lang="en-GB" b="0" baseline="0" dirty="0" smtClean="0"/>
              <a:t>  </a:t>
            </a:r>
          </a:p>
          <a:p>
            <a:endParaRPr lang="en-GB" b="0" baseline="0" dirty="0" smtClean="0"/>
          </a:p>
          <a:p>
            <a:r>
              <a:rPr lang="en-GB" baseline="0" dirty="0" smtClean="0"/>
              <a:t> </a:t>
            </a:r>
          </a:p>
          <a:p>
            <a:endParaRPr lang="en-GB" baseline="0" dirty="0" smtClean="0"/>
          </a:p>
        </p:txBody>
      </p:sp>
      <p:sp>
        <p:nvSpPr>
          <p:cNvPr id="4" name="Slide Number Placeholder 3"/>
          <p:cNvSpPr>
            <a:spLocks noGrp="1"/>
          </p:cNvSpPr>
          <p:nvPr>
            <p:ph type="sldNum" sz="quarter" idx="10"/>
          </p:nvPr>
        </p:nvSpPr>
        <p:spPr/>
        <p:txBody>
          <a:bodyPr/>
          <a:lstStyle/>
          <a:p>
            <a:fld id="{8E1C19E3-9AD5-42F6-A933-3561DC50E7D0}" type="slidenum">
              <a:rPr lang="fr-FR" smtClean="0">
                <a:solidFill>
                  <a:prstClr val="black"/>
                </a:solidFill>
              </a:rPr>
              <a:pPr/>
              <a:t>8</a:t>
            </a:fld>
            <a:endParaRPr lang="fr-FR" dirty="0">
              <a:solidFill>
                <a:prstClr val="black"/>
              </a:solidFill>
            </a:endParaRPr>
          </a:p>
        </p:txBody>
      </p:sp>
    </p:spTree>
    <p:extLst>
      <p:ext uri="{BB962C8B-B14F-4D97-AF65-F5344CB8AC3E}">
        <p14:creationId xmlns:p14="http://schemas.microsoft.com/office/powerpoint/2010/main" val="1754217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 this slide we present a schema for how the cycle</a:t>
            </a:r>
            <a:r>
              <a:rPr lang="en-GB" baseline="0" dirty="0" smtClean="0"/>
              <a:t> could work – and for example how and </a:t>
            </a:r>
            <a:r>
              <a:rPr lang="en-GB" u="sng" baseline="0" dirty="0" smtClean="0"/>
              <a:t>when</a:t>
            </a:r>
            <a:r>
              <a:rPr lang="en-GB" baseline="0" dirty="0" smtClean="0"/>
              <a:t> the mechanism for the transparency of action can feed into the cycle. </a:t>
            </a:r>
          </a:p>
          <a:p>
            <a:endParaRPr lang="en-GB" baseline="0" dirty="0" smtClean="0"/>
          </a:p>
          <a:p>
            <a:r>
              <a:rPr lang="en-GB" baseline="0" dirty="0" smtClean="0"/>
              <a:t>The process starts with the contributions that countries are currently preparing, framed and supported by the regime on means of implementation. </a:t>
            </a:r>
          </a:p>
          <a:p>
            <a:endParaRPr lang="en-GB" baseline="0" dirty="0" smtClean="0"/>
          </a:p>
          <a:p>
            <a:r>
              <a:rPr lang="en-GB" baseline="0" dirty="0" smtClean="0"/>
              <a:t>Once contributions are prepared, there would be a process to assess the adequacy of the contributions. It should be noted that this process can probably take place both inside and outside the UNFCCC. There should be a consultation in the UNFCCC, as many have proposed. It’s an open question whether there will be time and political scope for more before Paris. But there will also be researchers and experts that can help us to form an idea of the collective and individual adequacy of contributions. It’s also an open question of whether this process could result in revisions to contributions</a:t>
            </a:r>
            <a:r>
              <a:rPr lang="en-GB" i="1" baseline="0" dirty="0" smtClean="0"/>
              <a:t> in T1.</a:t>
            </a:r>
            <a:r>
              <a:rPr lang="en-GB" baseline="0" dirty="0" smtClean="0"/>
              <a:t> </a:t>
            </a:r>
          </a:p>
          <a:p>
            <a:endParaRPr lang="en-GB" baseline="0" dirty="0" smtClean="0"/>
          </a:p>
          <a:p>
            <a:r>
              <a:rPr lang="en-GB" baseline="0" dirty="0" smtClean="0"/>
              <a:t>Once determined, contributions would be implemented and there would be a process to ensure the transparency of action. </a:t>
            </a:r>
          </a:p>
          <a:p>
            <a:endParaRPr lang="en-GB" baseline="0" dirty="0" smtClean="0"/>
          </a:p>
          <a:p>
            <a:r>
              <a:rPr lang="en-GB" baseline="0" dirty="0" smtClean="0"/>
              <a:t>It is important to consider the implications of a short ‘contribution cycle’ for the role of the transparency process. Imagine we have a very short cycle of contributions, for example every 5 years. That means that we are back at the table well before the current period has ended (or indeed started). This is the case we have now, negotiating in 2015 contributions for post 2020, before the pre 2020 period has finished. </a:t>
            </a:r>
          </a:p>
          <a:p>
            <a:endParaRPr lang="en-GB" baseline="0" dirty="0" smtClean="0"/>
          </a:p>
          <a:p>
            <a:r>
              <a:rPr lang="en-GB" b="1" baseline="0" dirty="0" smtClean="0"/>
              <a:t>A key issue therefore becomes how can the transparency of action process also look forward to provide useful information for subsequent rounds of collective action?</a:t>
            </a:r>
          </a:p>
          <a:p>
            <a:endParaRPr lang="en-GB" b="1" baseline="0" dirty="0" smtClean="0"/>
          </a:p>
          <a:p>
            <a:r>
              <a:rPr lang="en-GB" b="0" baseline="0" dirty="0" smtClean="0"/>
              <a:t>The final step in the cycle is a process of collective and individual learning that would provide an input into the next round of contributions. This could combine elements of capacity building and facilitation, in order to help countries better prepare subsequent contributions, as well as identify on-going successes and difficulties in implementing the current period. </a:t>
            </a:r>
          </a:p>
          <a:p>
            <a:endParaRPr lang="en-GB" b="0" baseline="0" dirty="0" smtClean="0"/>
          </a:p>
          <a:p>
            <a:r>
              <a:rPr lang="en-GB" b="0" baseline="0" dirty="0" smtClean="0"/>
              <a:t>It should be noted that we don’t speak here of compliance. Conceptually, this could be kept separate from the learning and problem solving process. Certainly, it may be useful to have a clear, independent vision </a:t>
            </a:r>
            <a:r>
              <a:rPr lang="en-GB" b="0" i="1" baseline="0" dirty="0" smtClean="0"/>
              <a:t>ex post</a:t>
            </a:r>
            <a:r>
              <a:rPr lang="en-GB" b="0" baseline="0" dirty="0" smtClean="0"/>
              <a:t> of whether a contribution has been achieved, as a minimum. That is a topic for this afternoon.  </a:t>
            </a:r>
          </a:p>
          <a:p>
            <a:endParaRPr lang="en-GB" b="0" baseline="0" dirty="0" smtClean="0"/>
          </a:p>
          <a:p>
            <a:r>
              <a:rPr lang="en-GB" b="0" baseline="0" dirty="0" smtClean="0"/>
              <a:t>  </a:t>
            </a:r>
          </a:p>
          <a:p>
            <a:endParaRPr lang="en-GB" b="0" baseline="0" dirty="0" smtClean="0"/>
          </a:p>
          <a:p>
            <a:r>
              <a:rPr lang="en-GB" baseline="0" dirty="0" smtClean="0"/>
              <a:t> </a:t>
            </a:r>
          </a:p>
          <a:p>
            <a:endParaRPr lang="en-GB" baseline="0" dirty="0" smtClean="0"/>
          </a:p>
        </p:txBody>
      </p:sp>
      <p:sp>
        <p:nvSpPr>
          <p:cNvPr id="4" name="Slide Number Placeholder 3"/>
          <p:cNvSpPr>
            <a:spLocks noGrp="1"/>
          </p:cNvSpPr>
          <p:nvPr>
            <p:ph type="sldNum" sz="quarter" idx="10"/>
          </p:nvPr>
        </p:nvSpPr>
        <p:spPr/>
        <p:txBody>
          <a:bodyPr/>
          <a:lstStyle/>
          <a:p>
            <a:fld id="{8E1C19E3-9AD5-42F6-A933-3561DC50E7D0}" type="slidenum">
              <a:rPr lang="fr-FR" smtClean="0">
                <a:solidFill>
                  <a:prstClr val="black"/>
                </a:solidFill>
              </a:rPr>
              <a:pPr/>
              <a:t>9</a:t>
            </a:fld>
            <a:endParaRPr lang="fr-FR" dirty="0">
              <a:solidFill>
                <a:prstClr val="black"/>
              </a:solidFill>
            </a:endParaRPr>
          </a:p>
        </p:txBody>
      </p:sp>
    </p:spTree>
    <p:extLst>
      <p:ext uri="{BB962C8B-B14F-4D97-AF65-F5344CB8AC3E}">
        <p14:creationId xmlns:p14="http://schemas.microsoft.com/office/powerpoint/2010/main" val="1754217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 this slide we present a schema for how the cycle</a:t>
            </a:r>
            <a:r>
              <a:rPr lang="en-GB" baseline="0" dirty="0" smtClean="0"/>
              <a:t> could work – and for example how and </a:t>
            </a:r>
            <a:r>
              <a:rPr lang="en-GB" u="sng" baseline="0" dirty="0" smtClean="0"/>
              <a:t>when</a:t>
            </a:r>
            <a:r>
              <a:rPr lang="en-GB" baseline="0" dirty="0" smtClean="0"/>
              <a:t> the mechanism for the transparency of action can feed into the cycle. </a:t>
            </a:r>
          </a:p>
          <a:p>
            <a:endParaRPr lang="en-GB" baseline="0" dirty="0" smtClean="0"/>
          </a:p>
          <a:p>
            <a:r>
              <a:rPr lang="en-GB" baseline="0" dirty="0" smtClean="0"/>
              <a:t>The process starts with the contributions that countries are currently preparing, framed and supported by the regime on means of implementation. </a:t>
            </a:r>
          </a:p>
          <a:p>
            <a:endParaRPr lang="en-GB" baseline="0" dirty="0" smtClean="0"/>
          </a:p>
          <a:p>
            <a:r>
              <a:rPr lang="en-GB" baseline="0" dirty="0" smtClean="0"/>
              <a:t>Once contributions are prepared, there would be a process to assess the adequacy of the contributions. It should be noted that this process can probably take place both inside and outside the UNFCCC. There should be a consultation in the UNFCCC, as many have proposed. It’s an open question whether there will be time and political scope for more before Paris. But there will also be researchers and experts that can help us to form an idea of the collective and individual adequacy of contributions. It’s also an open question of whether this process could result in revisions to contributions</a:t>
            </a:r>
            <a:r>
              <a:rPr lang="en-GB" i="1" baseline="0" dirty="0" smtClean="0"/>
              <a:t> in T1.</a:t>
            </a:r>
            <a:r>
              <a:rPr lang="en-GB" baseline="0" dirty="0" smtClean="0"/>
              <a:t> </a:t>
            </a:r>
          </a:p>
          <a:p>
            <a:endParaRPr lang="en-GB" baseline="0" dirty="0" smtClean="0"/>
          </a:p>
          <a:p>
            <a:r>
              <a:rPr lang="en-GB" baseline="0" dirty="0" smtClean="0"/>
              <a:t>Once determined, contributions would be implemented and there would be a process to ensure the transparency of action. </a:t>
            </a:r>
          </a:p>
          <a:p>
            <a:endParaRPr lang="en-GB" baseline="0" dirty="0" smtClean="0"/>
          </a:p>
          <a:p>
            <a:r>
              <a:rPr lang="en-GB" baseline="0" dirty="0" smtClean="0"/>
              <a:t>It is important to consider the implications of a short ‘contribution cycle’ for the role of the transparency process. Imagine we have a very short cycle of contributions, for example every 5 years. That means that we are back at the table well before the current period has ended (or indeed started). This is the case we have now, negotiating in 2015 contributions for post 2020, before the pre 2020 period has finished. </a:t>
            </a:r>
          </a:p>
          <a:p>
            <a:endParaRPr lang="en-GB" baseline="0" dirty="0" smtClean="0"/>
          </a:p>
          <a:p>
            <a:r>
              <a:rPr lang="en-GB" b="1" baseline="0" dirty="0" smtClean="0"/>
              <a:t>A key issue therefore becomes how can the transparency of action process also look forward to provide useful information for subsequent rounds of collective action?</a:t>
            </a:r>
          </a:p>
          <a:p>
            <a:endParaRPr lang="en-GB" b="1" baseline="0" dirty="0" smtClean="0"/>
          </a:p>
          <a:p>
            <a:r>
              <a:rPr lang="en-GB" b="0" baseline="0" dirty="0" smtClean="0"/>
              <a:t>The final step in the cycle is a process of collective and individual learning that would provide an input into the next round of contributions. This could combine elements of capacity building and facilitation, in order to help countries better prepare subsequent contributions, as well as identify on-going successes and difficulties in implementing the current period. </a:t>
            </a:r>
          </a:p>
          <a:p>
            <a:endParaRPr lang="en-GB" b="0" baseline="0" dirty="0" smtClean="0"/>
          </a:p>
          <a:p>
            <a:r>
              <a:rPr lang="en-GB" b="0" baseline="0" dirty="0" smtClean="0"/>
              <a:t>It should be noted that we don’t speak here of compliance. Conceptually, this could be kept separate from the learning and problem solving process. Certainly, it may be useful to have a clear, independent vision </a:t>
            </a:r>
            <a:r>
              <a:rPr lang="en-GB" b="0" i="1" baseline="0" dirty="0" smtClean="0"/>
              <a:t>ex post</a:t>
            </a:r>
            <a:r>
              <a:rPr lang="en-GB" b="0" baseline="0" dirty="0" smtClean="0"/>
              <a:t> of whether a contribution has been achieved, as a minimum. That is a topic for this afternoon.  </a:t>
            </a:r>
          </a:p>
          <a:p>
            <a:endParaRPr lang="en-GB" b="0" baseline="0" dirty="0" smtClean="0"/>
          </a:p>
          <a:p>
            <a:r>
              <a:rPr lang="en-GB" b="0" baseline="0" dirty="0" smtClean="0"/>
              <a:t>  </a:t>
            </a:r>
          </a:p>
          <a:p>
            <a:endParaRPr lang="en-GB" b="0" baseline="0" dirty="0" smtClean="0"/>
          </a:p>
          <a:p>
            <a:r>
              <a:rPr lang="en-GB" baseline="0" dirty="0" smtClean="0"/>
              <a:t> </a:t>
            </a:r>
          </a:p>
          <a:p>
            <a:endParaRPr lang="en-GB" baseline="0" dirty="0" smtClean="0"/>
          </a:p>
        </p:txBody>
      </p:sp>
      <p:sp>
        <p:nvSpPr>
          <p:cNvPr id="4" name="Slide Number Placeholder 3"/>
          <p:cNvSpPr>
            <a:spLocks noGrp="1"/>
          </p:cNvSpPr>
          <p:nvPr>
            <p:ph type="sldNum" sz="quarter" idx="10"/>
          </p:nvPr>
        </p:nvSpPr>
        <p:spPr/>
        <p:txBody>
          <a:bodyPr/>
          <a:lstStyle/>
          <a:p>
            <a:fld id="{8E1C19E3-9AD5-42F6-A933-3561DC50E7D0}" type="slidenum">
              <a:rPr lang="fr-FR" smtClean="0">
                <a:solidFill>
                  <a:prstClr val="black"/>
                </a:solidFill>
              </a:rPr>
              <a:pPr/>
              <a:t>10</a:t>
            </a:fld>
            <a:endParaRPr lang="fr-FR" dirty="0">
              <a:solidFill>
                <a:prstClr val="black"/>
              </a:solidFill>
            </a:endParaRPr>
          </a:p>
        </p:txBody>
      </p:sp>
    </p:spTree>
    <p:extLst>
      <p:ext uri="{BB962C8B-B14F-4D97-AF65-F5344CB8AC3E}">
        <p14:creationId xmlns:p14="http://schemas.microsoft.com/office/powerpoint/2010/main" val="1754217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 this slide we present a schema for how the cycle</a:t>
            </a:r>
            <a:r>
              <a:rPr lang="en-GB" baseline="0" dirty="0" smtClean="0"/>
              <a:t> could work – and for example how and </a:t>
            </a:r>
            <a:r>
              <a:rPr lang="en-GB" u="sng" baseline="0" dirty="0" smtClean="0"/>
              <a:t>when</a:t>
            </a:r>
            <a:r>
              <a:rPr lang="en-GB" baseline="0" dirty="0" smtClean="0"/>
              <a:t> the mechanism for the transparency of action can feed into the cycle. </a:t>
            </a:r>
          </a:p>
          <a:p>
            <a:endParaRPr lang="en-GB" baseline="0" dirty="0" smtClean="0"/>
          </a:p>
          <a:p>
            <a:r>
              <a:rPr lang="en-GB" baseline="0" dirty="0" smtClean="0"/>
              <a:t>The process starts with the contributions that countries are currently preparing, framed and supported by the regime on means of implementation. </a:t>
            </a:r>
          </a:p>
          <a:p>
            <a:endParaRPr lang="en-GB" baseline="0" dirty="0" smtClean="0"/>
          </a:p>
          <a:p>
            <a:r>
              <a:rPr lang="en-GB" baseline="0" dirty="0" smtClean="0"/>
              <a:t>Once contributions are prepared, there would be a process to assess the adequacy of the contributions. It should be noted that this process can probably take place both inside and outside the UNFCCC. There should be a consultation in the UNFCCC, as many have proposed. It’s an open question whether there will be time and political scope for more before Paris. But there will also be researchers and experts that can help us to form an idea of the collective and individual adequacy of contributions. It’s also an open question of whether this process could result in revisions to contributions</a:t>
            </a:r>
            <a:r>
              <a:rPr lang="en-GB" i="1" baseline="0" dirty="0" smtClean="0"/>
              <a:t> in T1.</a:t>
            </a:r>
            <a:r>
              <a:rPr lang="en-GB" baseline="0" dirty="0" smtClean="0"/>
              <a:t> </a:t>
            </a:r>
          </a:p>
          <a:p>
            <a:endParaRPr lang="en-GB" baseline="0" dirty="0" smtClean="0"/>
          </a:p>
          <a:p>
            <a:r>
              <a:rPr lang="en-GB" baseline="0" dirty="0" smtClean="0"/>
              <a:t>Once determined, contributions would be implemented and there would be a process to ensure the transparency of action. </a:t>
            </a:r>
          </a:p>
          <a:p>
            <a:endParaRPr lang="en-GB" baseline="0" dirty="0" smtClean="0"/>
          </a:p>
          <a:p>
            <a:r>
              <a:rPr lang="en-GB" baseline="0" dirty="0" smtClean="0"/>
              <a:t>It is important to consider the implications of a short ‘contribution cycle’ for the role of the transparency process. Imagine we have a very short cycle of contributions, for example every 5 years. That means that we are back at the table well before the current period has ended (or indeed started). This is the case we have now, negotiating in 2015 contributions for post 2020, before the pre 2020 period has finished. </a:t>
            </a:r>
          </a:p>
          <a:p>
            <a:endParaRPr lang="en-GB" baseline="0" dirty="0" smtClean="0"/>
          </a:p>
          <a:p>
            <a:r>
              <a:rPr lang="en-GB" b="1" baseline="0" dirty="0" smtClean="0"/>
              <a:t>A key issue therefore becomes how can the transparency of action process also look forward to provide useful information for subsequent rounds of collective action?</a:t>
            </a:r>
          </a:p>
          <a:p>
            <a:endParaRPr lang="en-GB" b="1" baseline="0" dirty="0" smtClean="0"/>
          </a:p>
          <a:p>
            <a:r>
              <a:rPr lang="en-GB" b="0" baseline="0" dirty="0" smtClean="0"/>
              <a:t>The final step in the cycle is a process of collective and individual learning that would provide an input into the next round of contributions. This could combine elements of capacity building and facilitation, in order to help countries better prepare subsequent contributions, as well as identify on-going successes and difficulties in implementing the current period. </a:t>
            </a:r>
          </a:p>
          <a:p>
            <a:endParaRPr lang="en-GB" b="0" baseline="0" dirty="0" smtClean="0"/>
          </a:p>
          <a:p>
            <a:r>
              <a:rPr lang="en-GB" b="0" baseline="0" dirty="0" smtClean="0"/>
              <a:t>It should be noted that we don’t speak here of compliance. Conceptually, this could be kept separate from the learning and problem solving process. Certainly, it may be useful to have a clear, independent vision </a:t>
            </a:r>
            <a:r>
              <a:rPr lang="en-GB" b="0" i="1" baseline="0" dirty="0" smtClean="0"/>
              <a:t>ex post</a:t>
            </a:r>
            <a:r>
              <a:rPr lang="en-GB" b="0" baseline="0" dirty="0" smtClean="0"/>
              <a:t> of whether a contribution has been achieved, as a minimum. That is a topic for this afternoon.  </a:t>
            </a:r>
          </a:p>
          <a:p>
            <a:endParaRPr lang="en-GB" b="0" baseline="0" dirty="0" smtClean="0"/>
          </a:p>
          <a:p>
            <a:r>
              <a:rPr lang="en-GB" b="0" baseline="0" dirty="0" smtClean="0"/>
              <a:t>  </a:t>
            </a:r>
          </a:p>
          <a:p>
            <a:endParaRPr lang="en-GB" b="0" baseline="0" dirty="0" smtClean="0"/>
          </a:p>
          <a:p>
            <a:r>
              <a:rPr lang="en-GB" baseline="0" dirty="0" smtClean="0"/>
              <a:t> </a:t>
            </a:r>
          </a:p>
          <a:p>
            <a:endParaRPr lang="en-GB" baseline="0" dirty="0" smtClean="0"/>
          </a:p>
        </p:txBody>
      </p:sp>
      <p:sp>
        <p:nvSpPr>
          <p:cNvPr id="4" name="Slide Number Placeholder 3"/>
          <p:cNvSpPr>
            <a:spLocks noGrp="1"/>
          </p:cNvSpPr>
          <p:nvPr>
            <p:ph type="sldNum" sz="quarter" idx="10"/>
          </p:nvPr>
        </p:nvSpPr>
        <p:spPr/>
        <p:txBody>
          <a:bodyPr/>
          <a:lstStyle/>
          <a:p>
            <a:fld id="{8E1C19E3-9AD5-42F6-A933-3561DC50E7D0}" type="slidenum">
              <a:rPr lang="fr-FR" smtClean="0">
                <a:solidFill>
                  <a:prstClr val="black"/>
                </a:solidFill>
              </a:rPr>
              <a:pPr/>
              <a:t>11</a:t>
            </a:fld>
            <a:endParaRPr lang="fr-FR" dirty="0">
              <a:solidFill>
                <a:prstClr val="black"/>
              </a:solidFill>
            </a:endParaRPr>
          </a:p>
        </p:txBody>
      </p:sp>
    </p:spTree>
    <p:extLst>
      <p:ext uri="{BB962C8B-B14F-4D97-AF65-F5344CB8AC3E}">
        <p14:creationId xmlns:p14="http://schemas.microsoft.com/office/powerpoint/2010/main" val="1754217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 this slide we present a schema for how the cycle</a:t>
            </a:r>
            <a:r>
              <a:rPr lang="en-GB" baseline="0" dirty="0" smtClean="0"/>
              <a:t> could work – and for example how and </a:t>
            </a:r>
            <a:r>
              <a:rPr lang="en-GB" u="sng" baseline="0" dirty="0" smtClean="0"/>
              <a:t>when</a:t>
            </a:r>
            <a:r>
              <a:rPr lang="en-GB" baseline="0" dirty="0" smtClean="0"/>
              <a:t> the mechanism for the transparency of action can feed into the cycle. </a:t>
            </a:r>
          </a:p>
          <a:p>
            <a:endParaRPr lang="en-GB" baseline="0" dirty="0" smtClean="0"/>
          </a:p>
          <a:p>
            <a:r>
              <a:rPr lang="en-GB" baseline="0" dirty="0" smtClean="0"/>
              <a:t>The process starts with the contributions that countries are currently preparing, framed and supported by the regime on means of implementation. </a:t>
            </a:r>
          </a:p>
          <a:p>
            <a:endParaRPr lang="en-GB" baseline="0" dirty="0" smtClean="0"/>
          </a:p>
          <a:p>
            <a:r>
              <a:rPr lang="en-GB" baseline="0" dirty="0" smtClean="0"/>
              <a:t>Once contributions are prepared, there would be a process to assess the adequacy of the contributions. It should be noted that this process can probably take place both inside and outside the UNFCCC. There should be a consultation in the UNFCCC, as many have proposed. It’s an open question whether there will be time and political scope for more before Paris. But there will also be researchers and experts that can help us to form an idea of the collective and individual adequacy of contributions. It’s also an open question of whether this process could result in revisions to contributions</a:t>
            </a:r>
            <a:r>
              <a:rPr lang="en-GB" i="1" baseline="0" dirty="0" smtClean="0"/>
              <a:t> in T1.</a:t>
            </a:r>
            <a:r>
              <a:rPr lang="en-GB" baseline="0" dirty="0" smtClean="0"/>
              <a:t> </a:t>
            </a:r>
          </a:p>
          <a:p>
            <a:endParaRPr lang="en-GB" baseline="0" dirty="0" smtClean="0"/>
          </a:p>
          <a:p>
            <a:r>
              <a:rPr lang="en-GB" baseline="0" dirty="0" smtClean="0"/>
              <a:t>Once determined, contributions would be implemented and there would be a process to ensure the transparency of action. </a:t>
            </a:r>
          </a:p>
          <a:p>
            <a:endParaRPr lang="en-GB" baseline="0" dirty="0" smtClean="0"/>
          </a:p>
          <a:p>
            <a:r>
              <a:rPr lang="en-GB" baseline="0" dirty="0" smtClean="0"/>
              <a:t>It is important to consider the implications of a short ‘contribution cycle’ for the role of the transparency process. Imagine we have a very short cycle of contributions, for example every 5 years. That means that we are back at the table well before the current period has ended (or indeed started). This is the case we have now, negotiating in 2015 contributions for post 2020, before the pre 2020 period has finished. </a:t>
            </a:r>
          </a:p>
          <a:p>
            <a:endParaRPr lang="en-GB" baseline="0" dirty="0" smtClean="0"/>
          </a:p>
          <a:p>
            <a:r>
              <a:rPr lang="en-GB" b="1" baseline="0" dirty="0" smtClean="0"/>
              <a:t>A key issue therefore becomes how can the transparency of action process also look forward to provide useful information for subsequent rounds of collective action?</a:t>
            </a:r>
          </a:p>
          <a:p>
            <a:endParaRPr lang="en-GB" b="1" baseline="0" dirty="0" smtClean="0"/>
          </a:p>
          <a:p>
            <a:r>
              <a:rPr lang="en-GB" b="0" baseline="0" dirty="0" smtClean="0"/>
              <a:t>The final step in the cycle is a process of collective and individual learning that would provide an input into the next round of contributions. This could combine elements of capacity building and facilitation, in order to help countries better prepare subsequent contributions, as well as identify on-going successes and difficulties in implementing the current period. </a:t>
            </a:r>
          </a:p>
          <a:p>
            <a:endParaRPr lang="en-GB" b="0" baseline="0" dirty="0" smtClean="0"/>
          </a:p>
          <a:p>
            <a:r>
              <a:rPr lang="en-GB" b="0" baseline="0" dirty="0" smtClean="0"/>
              <a:t>It should be noted that we don’t speak here of compliance. Conceptually, this could be kept separate from the learning and problem solving process. Certainly, it may be useful to have a clear, independent vision </a:t>
            </a:r>
            <a:r>
              <a:rPr lang="en-GB" b="0" i="1" baseline="0" dirty="0" smtClean="0"/>
              <a:t>ex post</a:t>
            </a:r>
            <a:r>
              <a:rPr lang="en-GB" b="0" baseline="0" dirty="0" smtClean="0"/>
              <a:t> of whether a contribution has been achieved, as a minimum. That is a topic for this afternoon.  </a:t>
            </a:r>
          </a:p>
          <a:p>
            <a:endParaRPr lang="en-GB" b="0" baseline="0" dirty="0" smtClean="0"/>
          </a:p>
          <a:p>
            <a:r>
              <a:rPr lang="en-GB" b="0" baseline="0" dirty="0" smtClean="0"/>
              <a:t>  </a:t>
            </a:r>
          </a:p>
          <a:p>
            <a:endParaRPr lang="en-GB" b="0" baseline="0" dirty="0" smtClean="0"/>
          </a:p>
          <a:p>
            <a:r>
              <a:rPr lang="en-GB" baseline="0" dirty="0" smtClean="0"/>
              <a:t> </a:t>
            </a:r>
          </a:p>
          <a:p>
            <a:endParaRPr lang="en-GB" baseline="0" dirty="0" smtClean="0"/>
          </a:p>
        </p:txBody>
      </p:sp>
      <p:sp>
        <p:nvSpPr>
          <p:cNvPr id="4" name="Slide Number Placeholder 3"/>
          <p:cNvSpPr>
            <a:spLocks noGrp="1"/>
          </p:cNvSpPr>
          <p:nvPr>
            <p:ph type="sldNum" sz="quarter" idx="10"/>
          </p:nvPr>
        </p:nvSpPr>
        <p:spPr/>
        <p:txBody>
          <a:bodyPr/>
          <a:lstStyle/>
          <a:p>
            <a:fld id="{8E1C19E3-9AD5-42F6-A933-3561DC50E7D0}" type="slidenum">
              <a:rPr lang="fr-FR" smtClean="0">
                <a:solidFill>
                  <a:prstClr val="black"/>
                </a:solidFill>
              </a:rPr>
              <a:pPr/>
              <a:t>12</a:t>
            </a:fld>
            <a:endParaRPr lang="fr-FR" dirty="0">
              <a:solidFill>
                <a:prstClr val="black"/>
              </a:solidFill>
            </a:endParaRPr>
          </a:p>
        </p:txBody>
      </p:sp>
    </p:spTree>
    <p:extLst>
      <p:ext uri="{BB962C8B-B14F-4D97-AF65-F5344CB8AC3E}">
        <p14:creationId xmlns:p14="http://schemas.microsoft.com/office/powerpoint/2010/main" val="1754217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 this slide we present a schema for how the cycle</a:t>
            </a:r>
            <a:r>
              <a:rPr lang="en-GB" baseline="0" dirty="0" smtClean="0"/>
              <a:t> could work – and for example how and </a:t>
            </a:r>
            <a:r>
              <a:rPr lang="en-GB" u="sng" baseline="0" dirty="0" smtClean="0"/>
              <a:t>when</a:t>
            </a:r>
            <a:r>
              <a:rPr lang="en-GB" baseline="0" dirty="0" smtClean="0"/>
              <a:t> the mechanism for the transparency of action can feed into the cycle. </a:t>
            </a:r>
          </a:p>
          <a:p>
            <a:endParaRPr lang="en-GB" baseline="0" dirty="0" smtClean="0"/>
          </a:p>
          <a:p>
            <a:r>
              <a:rPr lang="en-GB" baseline="0" dirty="0" smtClean="0"/>
              <a:t>The process starts with the contributions that countries are currently preparing, framed and supported by the regime on means of implementation. </a:t>
            </a:r>
          </a:p>
          <a:p>
            <a:endParaRPr lang="en-GB" baseline="0" dirty="0" smtClean="0"/>
          </a:p>
          <a:p>
            <a:r>
              <a:rPr lang="en-GB" baseline="0" dirty="0" smtClean="0"/>
              <a:t>Once contributions are prepared, there would be a process to assess the adequacy of the contributions. It should be noted that this process can probably take place both inside and outside the UNFCCC. There should be a consultation in the UNFCCC, as many have proposed. It’s an open question whether there will be time and political scope for more before Paris. But there will also be researchers and experts that can help us to form an idea of the collective and individual adequacy of contributions. It’s also an open question of whether this process could result in revisions to contributions</a:t>
            </a:r>
            <a:r>
              <a:rPr lang="en-GB" i="1" baseline="0" dirty="0" smtClean="0"/>
              <a:t> in T1.</a:t>
            </a:r>
            <a:r>
              <a:rPr lang="en-GB" baseline="0" dirty="0" smtClean="0"/>
              <a:t> </a:t>
            </a:r>
          </a:p>
          <a:p>
            <a:endParaRPr lang="en-GB" baseline="0" dirty="0" smtClean="0"/>
          </a:p>
          <a:p>
            <a:r>
              <a:rPr lang="en-GB" baseline="0" dirty="0" smtClean="0"/>
              <a:t>Once determined, contributions would be implemented and there would be a process to ensure the transparency of action. </a:t>
            </a:r>
          </a:p>
          <a:p>
            <a:endParaRPr lang="en-GB" baseline="0" dirty="0" smtClean="0"/>
          </a:p>
          <a:p>
            <a:r>
              <a:rPr lang="en-GB" baseline="0" dirty="0" smtClean="0"/>
              <a:t>It is important to consider the implications of a short ‘contribution cycle’ for the role of the transparency process. Imagine we have a very short cycle of contributions, for example every 5 years. That means that we are back at the table well before the current period has ended (or indeed started). This is the case we have now, negotiating in 2015 contributions for post 2020, before the pre 2020 period has finished. </a:t>
            </a:r>
          </a:p>
          <a:p>
            <a:endParaRPr lang="en-GB" baseline="0" dirty="0" smtClean="0"/>
          </a:p>
          <a:p>
            <a:r>
              <a:rPr lang="en-GB" b="1" baseline="0" dirty="0" smtClean="0"/>
              <a:t>A key issue therefore becomes how can the transparency of action process also look forward to provide useful information for subsequent rounds of collective action?</a:t>
            </a:r>
          </a:p>
          <a:p>
            <a:endParaRPr lang="en-GB" b="1" baseline="0" dirty="0" smtClean="0"/>
          </a:p>
          <a:p>
            <a:r>
              <a:rPr lang="en-GB" b="0" baseline="0" dirty="0" smtClean="0"/>
              <a:t>The final step in the cycle is a process of collective and individual learning that would provide an input into the next round of contributions. This could combine elements of capacity building and facilitation, in order to help countries better prepare subsequent contributions, as well as identify on-going successes and difficulties in implementing the current period. </a:t>
            </a:r>
          </a:p>
          <a:p>
            <a:endParaRPr lang="en-GB" b="0" baseline="0" dirty="0" smtClean="0"/>
          </a:p>
          <a:p>
            <a:r>
              <a:rPr lang="en-GB" b="0" baseline="0" dirty="0" smtClean="0"/>
              <a:t>It should be noted that we don’t speak here of compliance. Conceptually, this could be kept separate from the learning and problem solving process. Certainly, it may be useful to have a clear, independent vision </a:t>
            </a:r>
            <a:r>
              <a:rPr lang="en-GB" b="0" i="1" baseline="0" dirty="0" smtClean="0"/>
              <a:t>ex post</a:t>
            </a:r>
            <a:r>
              <a:rPr lang="en-GB" b="0" baseline="0" dirty="0" smtClean="0"/>
              <a:t> of whether a contribution has been achieved, as a minimum. That is a topic for this afternoon.  </a:t>
            </a:r>
          </a:p>
          <a:p>
            <a:endParaRPr lang="en-GB" b="0" baseline="0" dirty="0" smtClean="0"/>
          </a:p>
          <a:p>
            <a:r>
              <a:rPr lang="en-GB" b="0" baseline="0" dirty="0" smtClean="0"/>
              <a:t>  </a:t>
            </a:r>
          </a:p>
          <a:p>
            <a:endParaRPr lang="en-GB" b="0" baseline="0" dirty="0" smtClean="0"/>
          </a:p>
          <a:p>
            <a:r>
              <a:rPr lang="en-GB" baseline="0" dirty="0" smtClean="0"/>
              <a:t> </a:t>
            </a:r>
          </a:p>
          <a:p>
            <a:endParaRPr lang="en-GB" baseline="0" dirty="0" smtClean="0"/>
          </a:p>
        </p:txBody>
      </p:sp>
      <p:sp>
        <p:nvSpPr>
          <p:cNvPr id="4" name="Slide Number Placeholder 3"/>
          <p:cNvSpPr>
            <a:spLocks noGrp="1"/>
          </p:cNvSpPr>
          <p:nvPr>
            <p:ph type="sldNum" sz="quarter" idx="10"/>
          </p:nvPr>
        </p:nvSpPr>
        <p:spPr/>
        <p:txBody>
          <a:bodyPr/>
          <a:lstStyle/>
          <a:p>
            <a:fld id="{8E1C19E3-9AD5-42F6-A933-3561DC50E7D0}" type="slidenum">
              <a:rPr lang="fr-FR" smtClean="0">
                <a:solidFill>
                  <a:prstClr val="black"/>
                </a:solidFill>
              </a:rPr>
              <a:pPr/>
              <a:t>13</a:t>
            </a:fld>
            <a:endParaRPr lang="fr-FR" dirty="0">
              <a:solidFill>
                <a:prstClr val="black"/>
              </a:solidFill>
            </a:endParaRPr>
          </a:p>
        </p:txBody>
      </p:sp>
    </p:spTree>
    <p:extLst>
      <p:ext uri="{BB962C8B-B14F-4D97-AF65-F5344CB8AC3E}">
        <p14:creationId xmlns:p14="http://schemas.microsoft.com/office/powerpoint/2010/main" val="1754217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 this slide we present a schema for how the cycle</a:t>
            </a:r>
            <a:r>
              <a:rPr lang="en-GB" baseline="0" dirty="0" smtClean="0"/>
              <a:t> could work – and for example how and </a:t>
            </a:r>
            <a:r>
              <a:rPr lang="en-GB" u="sng" baseline="0" dirty="0" smtClean="0"/>
              <a:t>when</a:t>
            </a:r>
            <a:r>
              <a:rPr lang="en-GB" baseline="0" dirty="0" smtClean="0"/>
              <a:t> the mechanism for the transparency of action can feed into the cycle. </a:t>
            </a:r>
          </a:p>
          <a:p>
            <a:endParaRPr lang="en-GB" baseline="0" dirty="0" smtClean="0"/>
          </a:p>
          <a:p>
            <a:r>
              <a:rPr lang="en-GB" baseline="0" dirty="0" smtClean="0"/>
              <a:t>The process starts with the contributions that countries are currently preparing, framed and supported by the regime on means of implementation. </a:t>
            </a:r>
          </a:p>
          <a:p>
            <a:endParaRPr lang="en-GB" baseline="0" dirty="0" smtClean="0"/>
          </a:p>
          <a:p>
            <a:r>
              <a:rPr lang="en-GB" baseline="0" dirty="0" smtClean="0"/>
              <a:t>Once contributions are prepared, there would be a process to assess the adequacy of the contributions. It should be noted that this process can probably take place both inside and outside the UNFCCC. There should be a consultation in the UNFCCC, as many have proposed. It’s an open question whether there will be time and political scope for more before Paris. But there will also be researchers and experts that can help us to form an idea of the collective and individual adequacy of contributions. It’s also an open question of whether this process could result in revisions to contributions</a:t>
            </a:r>
            <a:r>
              <a:rPr lang="en-GB" i="1" baseline="0" dirty="0" smtClean="0"/>
              <a:t> in T1.</a:t>
            </a:r>
            <a:r>
              <a:rPr lang="en-GB" baseline="0" dirty="0" smtClean="0"/>
              <a:t> </a:t>
            </a:r>
          </a:p>
          <a:p>
            <a:endParaRPr lang="en-GB" baseline="0" dirty="0" smtClean="0"/>
          </a:p>
          <a:p>
            <a:r>
              <a:rPr lang="en-GB" baseline="0" dirty="0" smtClean="0"/>
              <a:t>Once determined, contributions would be implemented and there would be a process to ensure the transparency of action. </a:t>
            </a:r>
          </a:p>
          <a:p>
            <a:endParaRPr lang="en-GB" baseline="0" dirty="0" smtClean="0"/>
          </a:p>
          <a:p>
            <a:r>
              <a:rPr lang="en-GB" baseline="0" dirty="0" smtClean="0"/>
              <a:t>It is important to consider the implications of a short ‘contribution cycle’ for the role of the transparency process. Imagine we have a very short cycle of contributions, for example every 5 years. That means that we are back at the table well before the current period has ended (or indeed started). This is the case we have now, negotiating in 2015 contributions for post 2020, before the pre 2020 period has finished. </a:t>
            </a:r>
          </a:p>
          <a:p>
            <a:endParaRPr lang="en-GB" baseline="0" dirty="0" smtClean="0"/>
          </a:p>
          <a:p>
            <a:r>
              <a:rPr lang="en-GB" b="1" baseline="0" dirty="0" smtClean="0"/>
              <a:t>A key issue therefore becomes how can the transparency of action process also look forward to provide useful information for subsequent rounds of collective action?</a:t>
            </a:r>
          </a:p>
          <a:p>
            <a:endParaRPr lang="en-GB" b="1" baseline="0" dirty="0" smtClean="0"/>
          </a:p>
          <a:p>
            <a:r>
              <a:rPr lang="en-GB" b="0" baseline="0" dirty="0" smtClean="0"/>
              <a:t>The final step in the cycle is a process of collective and individual learning that would provide an input into the next round of contributions. This could combine elements of capacity building and facilitation, in order to help countries better prepare subsequent contributions, as well as identify on-going successes and difficulties in implementing the current period. </a:t>
            </a:r>
          </a:p>
          <a:p>
            <a:endParaRPr lang="en-GB" b="0" baseline="0" dirty="0" smtClean="0"/>
          </a:p>
          <a:p>
            <a:r>
              <a:rPr lang="en-GB" b="0" baseline="0" dirty="0" smtClean="0"/>
              <a:t>It should be noted that we don’t speak here of compliance. Conceptually, this could be kept separate from the learning and problem solving process. Certainly, it may be useful to have a clear, independent vision </a:t>
            </a:r>
            <a:r>
              <a:rPr lang="en-GB" b="0" i="1" baseline="0" dirty="0" smtClean="0"/>
              <a:t>ex post</a:t>
            </a:r>
            <a:r>
              <a:rPr lang="en-GB" b="0" baseline="0" dirty="0" smtClean="0"/>
              <a:t> of whether a contribution has been achieved, as a minimum. That is a topic for this afternoon.  </a:t>
            </a:r>
          </a:p>
          <a:p>
            <a:endParaRPr lang="en-GB" b="0" baseline="0" dirty="0" smtClean="0"/>
          </a:p>
          <a:p>
            <a:r>
              <a:rPr lang="en-GB" b="0" baseline="0" dirty="0" smtClean="0"/>
              <a:t>  </a:t>
            </a:r>
          </a:p>
          <a:p>
            <a:endParaRPr lang="en-GB" b="0" baseline="0" dirty="0" smtClean="0"/>
          </a:p>
          <a:p>
            <a:r>
              <a:rPr lang="en-GB" baseline="0" dirty="0" smtClean="0"/>
              <a:t> </a:t>
            </a:r>
          </a:p>
          <a:p>
            <a:endParaRPr lang="en-GB" baseline="0" dirty="0" smtClean="0"/>
          </a:p>
        </p:txBody>
      </p:sp>
      <p:sp>
        <p:nvSpPr>
          <p:cNvPr id="4" name="Slide Number Placeholder 3"/>
          <p:cNvSpPr>
            <a:spLocks noGrp="1"/>
          </p:cNvSpPr>
          <p:nvPr>
            <p:ph type="sldNum" sz="quarter" idx="10"/>
          </p:nvPr>
        </p:nvSpPr>
        <p:spPr/>
        <p:txBody>
          <a:bodyPr/>
          <a:lstStyle/>
          <a:p>
            <a:fld id="{8E1C19E3-9AD5-42F6-A933-3561DC50E7D0}" type="slidenum">
              <a:rPr lang="fr-FR" smtClean="0">
                <a:solidFill>
                  <a:prstClr val="black"/>
                </a:solidFill>
              </a:rPr>
              <a:pPr/>
              <a:t>14</a:t>
            </a:fld>
            <a:endParaRPr lang="fr-FR" dirty="0">
              <a:solidFill>
                <a:prstClr val="black"/>
              </a:solidFill>
            </a:endParaRPr>
          </a:p>
        </p:txBody>
      </p:sp>
    </p:spTree>
    <p:extLst>
      <p:ext uri="{BB962C8B-B14F-4D97-AF65-F5344CB8AC3E}">
        <p14:creationId xmlns:p14="http://schemas.microsoft.com/office/powerpoint/2010/main" val="1754217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 this slide we present a schema for how the cycle</a:t>
            </a:r>
            <a:r>
              <a:rPr lang="en-GB" baseline="0" dirty="0" smtClean="0"/>
              <a:t> could work – and for example how and </a:t>
            </a:r>
            <a:r>
              <a:rPr lang="en-GB" u="sng" baseline="0" dirty="0" smtClean="0"/>
              <a:t>when</a:t>
            </a:r>
            <a:r>
              <a:rPr lang="en-GB" baseline="0" dirty="0" smtClean="0"/>
              <a:t> the mechanism for the transparency of action can feed into the cycle. </a:t>
            </a:r>
          </a:p>
          <a:p>
            <a:endParaRPr lang="en-GB" baseline="0" dirty="0" smtClean="0"/>
          </a:p>
          <a:p>
            <a:r>
              <a:rPr lang="en-GB" baseline="0" dirty="0" smtClean="0"/>
              <a:t>The process starts with the contributions that countries are currently preparing, framed and supported by the regime on means of implementation. </a:t>
            </a:r>
          </a:p>
          <a:p>
            <a:endParaRPr lang="en-GB" baseline="0" dirty="0" smtClean="0"/>
          </a:p>
          <a:p>
            <a:r>
              <a:rPr lang="en-GB" baseline="0" dirty="0" smtClean="0"/>
              <a:t>Once contributions are prepared, there would be a process to assess the adequacy of the contributions. It should be noted that this process can probably take place both inside and outside the UNFCCC. There should be a consultation in the UNFCCC, as many have proposed. It’s an open question whether there will be time and political scope for more before Paris. But there will also be researchers and experts that can help us to form an idea of the collective and individual adequacy of contributions. It’s also an open question of whether this process could result in revisions to contributions</a:t>
            </a:r>
            <a:r>
              <a:rPr lang="en-GB" i="1" baseline="0" dirty="0" smtClean="0"/>
              <a:t> in T1.</a:t>
            </a:r>
            <a:r>
              <a:rPr lang="en-GB" baseline="0" dirty="0" smtClean="0"/>
              <a:t> </a:t>
            </a:r>
          </a:p>
          <a:p>
            <a:endParaRPr lang="en-GB" baseline="0" dirty="0" smtClean="0"/>
          </a:p>
          <a:p>
            <a:r>
              <a:rPr lang="en-GB" baseline="0" dirty="0" smtClean="0"/>
              <a:t>Once determined, contributions would be implemented and there would be a process to ensure the transparency of action. </a:t>
            </a:r>
          </a:p>
          <a:p>
            <a:endParaRPr lang="en-GB" baseline="0" dirty="0" smtClean="0"/>
          </a:p>
          <a:p>
            <a:r>
              <a:rPr lang="en-GB" baseline="0" dirty="0" smtClean="0"/>
              <a:t>It is important to consider the implications of a short ‘contribution cycle’ for the role of the transparency process. Imagine we have a very short cycle of contributions, for example every 5 years. That means that we are back at the table well before the current period has ended (or indeed started). This is the case we have now, negotiating in 2015 contributions for post 2020, before the pre 2020 period has finished. </a:t>
            </a:r>
          </a:p>
          <a:p>
            <a:endParaRPr lang="en-GB" baseline="0" dirty="0" smtClean="0"/>
          </a:p>
          <a:p>
            <a:r>
              <a:rPr lang="en-GB" b="1" baseline="0" dirty="0" smtClean="0"/>
              <a:t>A key issue therefore becomes how can the transparency of action process also look forward to provide useful information for subsequent rounds of collective action?</a:t>
            </a:r>
          </a:p>
          <a:p>
            <a:endParaRPr lang="en-GB" b="1" baseline="0" dirty="0" smtClean="0"/>
          </a:p>
          <a:p>
            <a:r>
              <a:rPr lang="en-GB" b="0" baseline="0" dirty="0" smtClean="0"/>
              <a:t>The final step in the cycle is a process of collective and individual learning that would provide an input into the next round of contributions. This could combine elements of capacity building and facilitation, in order to help countries better prepare subsequent contributions, as well as identify on-going successes and difficulties in implementing the current period. </a:t>
            </a:r>
          </a:p>
          <a:p>
            <a:endParaRPr lang="en-GB" b="0" baseline="0" dirty="0" smtClean="0"/>
          </a:p>
          <a:p>
            <a:r>
              <a:rPr lang="en-GB" b="0" baseline="0" dirty="0" smtClean="0"/>
              <a:t>It should be noted that we don’t speak here of compliance. Conceptually, this could be kept separate from the learning and problem solving process. Certainly, it may be useful to have a clear, independent vision </a:t>
            </a:r>
            <a:r>
              <a:rPr lang="en-GB" b="0" i="1" baseline="0" dirty="0" smtClean="0"/>
              <a:t>ex post</a:t>
            </a:r>
            <a:r>
              <a:rPr lang="en-GB" b="0" baseline="0" dirty="0" smtClean="0"/>
              <a:t> of whether a contribution has been achieved, as a minimum. That is a topic for this afternoon.  </a:t>
            </a:r>
          </a:p>
          <a:p>
            <a:endParaRPr lang="en-GB" b="0" baseline="0" dirty="0" smtClean="0"/>
          </a:p>
          <a:p>
            <a:r>
              <a:rPr lang="en-GB" b="0" baseline="0" dirty="0" smtClean="0"/>
              <a:t>  </a:t>
            </a:r>
          </a:p>
          <a:p>
            <a:endParaRPr lang="en-GB" b="0" baseline="0" dirty="0" smtClean="0"/>
          </a:p>
          <a:p>
            <a:r>
              <a:rPr lang="en-GB" baseline="0" dirty="0" smtClean="0"/>
              <a:t> </a:t>
            </a:r>
          </a:p>
          <a:p>
            <a:endParaRPr lang="en-GB" baseline="0" dirty="0" smtClean="0"/>
          </a:p>
        </p:txBody>
      </p:sp>
      <p:sp>
        <p:nvSpPr>
          <p:cNvPr id="4" name="Slide Number Placeholder 3"/>
          <p:cNvSpPr>
            <a:spLocks noGrp="1"/>
          </p:cNvSpPr>
          <p:nvPr>
            <p:ph type="sldNum" sz="quarter" idx="10"/>
          </p:nvPr>
        </p:nvSpPr>
        <p:spPr/>
        <p:txBody>
          <a:bodyPr/>
          <a:lstStyle/>
          <a:p>
            <a:fld id="{8E1C19E3-9AD5-42F6-A933-3561DC50E7D0}" type="slidenum">
              <a:rPr lang="fr-FR" smtClean="0">
                <a:solidFill>
                  <a:prstClr val="black"/>
                </a:solidFill>
              </a:rPr>
              <a:pPr/>
              <a:t>15</a:t>
            </a:fld>
            <a:endParaRPr lang="fr-FR" dirty="0">
              <a:solidFill>
                <a:prstClr val="black"/>
              </a:solidFill>
            </a:endParaRPr>
          </a:p>
        </p:txBody>
      </p:sp>
    </p:spTree>
    <p:extLst>
      <p:ext uri="{BB962C8B-B14F-4D97-AF65-F5344CB8AC3E}">
        <p14:creationId xmlns:p14="http://schemas.microsoft.com/office/powerpoint/2010/main" val="175421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4" name="Rectangle 2"/>
          <p:cNvSpPr>
            <a:spLocks noChangeArrowheads="1"/>
          </p:cNvSpPr>
          <p:nvPr/>
        </p:nvSpPr>
        <p:spPr bwMode="auto">
          <a:xfrm>
            <a:off x="0" y="6165850"/>
            <a:ext cx="9144000" cy="719138"/>
          </a:xfrm>
          <a:prstGeom prst="rect">
            <a:avLst/>
          </a:prstGeom>
          <a:solidFill>
            <a:srgbClr val="800000"/>
          </a:solidFill>
          <a:ln w="9525">
            <a:noFill/>
            <a:miter lim="800000"/>
            <a:headEnd/>
            <a:tailEnd/>
          </a:ln>
        </p:spPr>
        <p:txBody>
          <a:bodyPr anchor="ctr"/>
          <a:lstStyle/>
          <a:p>
            <a:pPr algn="ctr">
              <a:defRPr/>
            </a:pPr>
            <a:r>
              <a:rPr lang="es-ES_tradnl" sz="5400" b="0">
                <a:solidFill>
                  <a:schemeClr val="bg1"/>
                </a:solidFill>
                <a:latin typeface="Arial" charset="0"/>
                <a:cs typeface="Arial" charset="0"/>
              </a:rPr>
              <a:t> </a:t>
            </a:r>
            <a:endParaRPr lang="es-ES" sz="5400" b="0">
              <a:solidFill>
                <a:schemeClr val="bg1"/>
              </a:solidFill>
              <a:latin typeface="Arial" charset="0"/>
              <a:cs typeface="Arial" charset="0"/>
            </a:endParaRPr>
          </a:p>
        </p:txBody>
      </p:sp>
      <p:sp>
        <p:nvSpPr>
          <p:cNvPr id="5" name="Text Box 3"/>
          <p:cNvSpPr txBox="1">
            <a:spLocks noChangeArrowheads="1"/>
          </p:cNvSpPr>
          <p:nvPr/>
        </p:nvSpPr>
        <p:spPr bwMode="auto">
          <a:xfrm>
            <a:off x="250825" y="6218238"/>
            <a:ext cx="8642350" cy="671512"/>
          </a:xfrm>
          <a:prstGeom prst="rect">
            <a:avLst/>
          </a:prstGeom>
          <a:noFill/>
          <a:ln>
            <a:noFill/>
          </a:ln>
          <a:extLst/>
        </p:spPr>
        <p:txBody>
          <a:bodyPr>
            <a:spAutoFit/>
          </a:bodyPr>
          <a:lstStyle>
            <a:lvl1pPr eaLnBrk="0" hangingPunct="0">
              <a:defRPr sz="2400" b="1">
                <a:solidFill>
                  <a:schemeClr val="tx1"/>
                </a:solidFill>
                <a:latin typeface="Arial" charset="0"/>
                <a:cs typeface="Arial" charset="0"/>
              </a:defRPr>
            </a:lvl1pPr>
            <a:lvl2pPr marL="37931725" indent="-37474525" eaLnBrk="0" hangingPunct="0">
              <a:defRPr sz="2400" b="1">
                <a:solidFill>
                  <a:schemeClr val="tx1"/>
                </a:solidFill>
                <a:latin typeface="Arial" charset="0"/>
                <a:cs typeface="Arial" charset="0"/>
              </a:defRPr>
            </a:lvl2pPr>
            <a:lvl3pPr eaLnBrk="0" hangingPunct="0">
              <a:defRPr sz="2400" b="1">
                <a:solidFill>
                  <a:schemeClr val="tx1"/>
                </a:solidFill>
                <a:latin typeface="Arial" charset="0"/>
                <a:cs typeface="Arial" charset="0"/>
              </a:defRPr>
            </a:lvl3pPr>
            <a:lvl4pPr eaLnBrk="0" hangingPunct="0">
              <a:defRPr sz="2400" b="1">
                <a:solidFill>
                  <a:schemeClr val="tx1"/>
                </a:solidFill>
                <a:latin typeface="Arial" charset="0"/>
                <a:cs typeface="Arial" charset="0"/>
              </a:defRPr>
            </a:lvl4pPr>
            <a:lvl5pPr eaLnBrk="0" hangingPunct="0">
              <a:defRPr sz="2400" b="1">
                <a:solidFill>
                  <a:schemeClr val="tx1"/>
                </a:solidFill>
                <a:latin typeface="Arial" charset="0"/>
                <a:cs typeface="Arial" charset="0"/>
              </a:defRPr>
            </a:lvl5pPr>
            <a:lvl6pPr marL="457200" eaLnBrk="0" fontAlgn="base" hangingPunct="0">
              <a:spcBef>
                <a:spcPct val="0"/>
              </a:spcBef>
              <a:spcAft>
                <a:spcPct val="0"/>
              </a:spcAft>
              <a:defRPr sz="2400" b="1">
                <a:solidFill>
                  <a:schemeClr val="tx1"/>
                </a:solidFill>
                <a:latin typeface="Arial" charset="0"/>
                <a:cs typeface="Arial" charset="0"/>
              </a:defRPr>
            </a:lvl6pPr>
            <a:lvl7pPr marL="914400" eaLnBrk="0" fontAlgn="base" hangingPunct="0">
              <a:spcBef>
                <a:spcPct val="0"/>
              </a:spcBef>
              <a:spcAft>
                <a:spcPct val="0"/>
              </a:spcAft>
              <a:defRPr sz="2400" b="1">
                <a:solidFill>
                  <a:schemeClr val="tx1"/>
                </a:solidFill>
                <a:latin typeface="Arial" charset="0"/>
                <a:cs typeface="Arial" charset="0"/>
              </a:defRPr>
            </a:lvl7pPr>
            <a:lvl8pPr marL="1371600" eaLnBrk="0" fontAlgn="base" hangingPunct="0">
              <a:spcBef>
                <a:spcPct val="0"/>
              </a:spcBef>
              <a:spcAft>
                <a:spcPct val="0"/>
              </a:spcAft>
              <a:defRPr sz="2400" b="1">
                <a:solidFill>
                  <a:schemeClr val="tx1"/>
                </a:solidFill>
                <a:latin typeface="Arial" charset="0"/>
                <a:cs typeface="Arial" charset="0"/>
              </a:defRPr>
            </a:lvl8pPr>
            <a:lvl9pPr marL="1828800" eaLnBrk="0" fontAlgn="base" hangingPunct="0">
              <a:spcBef>
                <a:spcPct val="0"/>
              </a:spcBef>
              <a:spcAft>
                <a:spcPct val="0"/>
              </a:spcAft>
              <a:defRPr sz="2400" b="1">
                <a:solidFill>
                  <a:schemeClr val="tx1"/>
                </a:solidFill>
                <a:latin typeface="Arial" charset="0"/>
                <a:cs typeface="Arial" charset="0"/>
              </a:defRPr>
            </a:lvl9pPr>
          </a:lstStyle>
          <a:p>
            <a:pPr algn="ctr" eaLnBrk="1" hangingPunct="1">
              <a:defRPr/>
            </a:pPr>
            <a:r>
              <a:rPr lang="en-GB" sz="1200" smtClean="0">
                <a:solidFill>
                  <a:schemeClr val="bg1"/>
                </a:solidFill>
                <a:latin typeface="Helvetica" charset="0"/>
              </a:rPr>
              <a:t>Institute for Sustainable Development and International Relations</a:t>
            </a:r>
          </a:p>
          <a:p>
            <a:pPr algn="ctr" eaLnBrk="1" hangingPunct="1">
              <a:defRPr/>
            </a:pPr>
            <a:r>
              <a:rPr lang="en-GB" sz="1000" b="0" smtClean="0">
                <a:solidFill>
                  <a:schemeClr val="bg1"/>
                </a:solidFill>
                <a:latin typeface="Helvetica" charset="0"/>
              </a:rPr>
              <a:t>41 rue du Four – 75006 Paris - France</a:t>
            </a:r>
          </a:p>
          <a:p>
            <a:pPr algn="ctr" eaLnBrk="1" hangingPunct="1">
              <a:defRPr/>
            </a:pPr>
            <a:r>
              <a:rPr lang="en-GB" sz="1200" smtClean="0">
                <a:solidFill>
                  <a:schemeClr val="bg1"/>
                </a:solidFill>
                <a:latin typeface="Helvetica" charset="0"/>
              </a:rPr>
              <a:t>www.iddri.org</a:t>
            </a:r>
            <a:r>
              <a:rPr lang="en-GB" sz="1600" b="0" smtClean="0">
                <a:solidFill>
                  <a:schemeClr val="bg1"/>
                </a:solidFill>
                <a:latin typeface="Helvetica" charset="0"/>
              </a:rPr>
              <a:t> </a:t>
            </a:r>
          </a:p>
        </p:txBody>
      </p:sp>
      <p:pic>
        <p:nvPicPr>
          <p:cNvPr id="6" name="Picture 4" descr="LogoIDDRICouleur"/>
          <p:cNvPicPr>
            <a:picLocks noChangeAspect="1" noChangeArrowheads="1"/>
          </p:cNvPicPr>
          <p:nvPr/>
        </p:nvPicPr>
        <p:blipFill rotWithShape="1">
          <a:blip r:embed="rId2" cstate="print"/>
          <a:srcRect b="38159"/>
          <a:stretch/>
        </p:blipFill>
        <p:spPr bwMode="auto">
          <a:xfrm>
            <a:off x="466725" y="549275"/>
            <a:ext cx="1368425" cy="846237"/>
          </a:xfrm>
          <a:prstGeom prst="rect">
            <a:avLst/>
          </a:prstGeom>
          <a:noFill/>
          <a:ln w="6350">
            <a:noFill/>
            <a:miter lim="800000"/>
            <a:headEnd/>
            <a:tailEnd/>
          </a:ln>
        </p:spPr>
      </p:pic>
      <p:sp>
        <p:nvSpPr>
          <p:cNvPr id="7" name="Text Box 6"/>
          <p:cNvSpPr txBox="1">
            <a:spLocks noChangeArrowheads="1"/>
          </p:cNvSpPr>
          <p:nvPr/>
        </p:nvSpPr>
        <p:spPr bwMode="auto">
          <a:xfrm>
            <a:off x="3851275" y="5280025"/>
            <a:ext cx="5078413" cy="339725"/>
          </a:xfrm>
          <a:prstGeom prst="rect">
            <a:avLst/>
          </a:prstGeom>
          <a:noFill/>
          <a:ln>
            <a:noFill/>
          </a:ln>
          <a:extLst/>
        </p:spPr>
        <p:txBody>
          <a:bodyPr>
            <a:spAutoFit/>
          </a:bodyPr>
          <a:lstStyle>
            <a:lvl1pPr eaLnBrk="0" hangingPunct="0">
              <a:defRPr sz="2400" b="1">
                <a:solidFill>
                  <a:schemeClr val="tx1"/>
                </a:solidFill>
                <a:latin typeface="Arial" charset="0"/>
                <a:cs typeface="Arial" charset="0"/>
              </a:defRPr>
            </a:lvl1pPr>
            <a:lvl2pPr marL="37931725" indent="-37474525" eaLnBrk="0" hangingPunct="0">
              <a:defRPr sz="2400" b="1">
                <a:solidFill>
                  <a:schemeClr val="tx1"/>
                </a:solidFill>
                <a:latin typeface="Arial" charset="0"/>
                <a:cs typeface="Arial" charset="0"/>
              </a:defRPr>
            </a:lvl2pPr>
            <a:lvl3pPr eaLnBrk="0" hangingPunct="0">
              <a:defRPr sz="2400" b="1">
                <a:solidFill>
                  <a:schemeClr val="tx1"/>
                </a:solidFill>
                <a:latin typeface="Arial" charset="0"/>
                <a:cs typeface="Arial" charset="0"/>
              </a:defRPr>
            </a:lvl3pPr>
            <a:lvl4pPr eaLnBrk="0" hangingPunct="0">
              <a:defRPr sz="2400" b="1">
                <a:solidFill>
                  <a:schemeClr val="tx1"/>
                </a:solidFill>
                <a:latin typeface="Arial" charset="0"/>
                <a:cs typeface="Arial" charset="0"/>
              </a:defRPr>
            </a:lvl4pPr>
            <a:lvl5pPr eaLnBrk="0" hangingPunct="0">
              <a:defRPr sz="2400" b="1">
                <a:solidFill>
                  <a:schemeClr val="tx1"/>
                </a:solidFill>
                <a:latin typeface="Arial" charset="0"/>
                <a:cs typeface="Arial" charset="0"/>
              </a:defRPr>
            </a:lvl5pPr>
            <a:lvl6pPr marL="457200" eaLnBrk="0" fontAlgn="base" hangingPunct="0">
              <a:spcBef>
                <a:spcPct val="0"/>
              </a:spcBef>
              <a:spcAft>
                <a:spcPct val="0"/>
              </a:spcAft>
              <a:defRPr sz="2400" b="1">
                <a:solidFill>
                  <a:schemeClr val="tx1"/>
                </a:solidFill>
                <a:latin typeface="Arial" charset="0"/>
                <a:cs typeface="Arial" charset="0"/>
              </a:defRPr>
            </a:lvl6pPr>
            <a:lvl7pPr marL="914400" eaLnBrk="0" fontAlgn="base" hangingPunct="0">
              <a:spcBef>
                <a:spcPct val="0"/>
              </a:spcBef>
              <a:spcAft>
                <a:spcPct val="0"/>
              </a:spcAft>
              <a:defRPr sz="2400" b="1">
                <a:solidFill>
                  <a:schemeClr val="tx1"/>
                </a:solidFill>
                <a:latin typeface="Arial" charset="0"/>
                <a:cs typeface="Arial" charset="0"/>
              </a:defRPr>
            </a:lvl7pPr>
            <a:lvl8pPr marL="1371600" eaLnBrk="0" fontAlgn="base" hangingPunct="0">
              <a:spcBef>
                <a:spcPct val="0"/>
              </a:spcBef>
              <a:spcAft>
                <a:spcPct val="0"/>
              </a:spcAft>
              <a:defRPr sz="2400" b="1">
                <a:solidFill>
                  <a:schemeClr val="tx1"/>
                </a:solidFill>
                <a:latin typeface="Arial" charset="0"/>
                <a:cs typeface="Arial" charset="0"/>
              </a:defRPr>
            </a:lvl8pPr>
            <a:lvl9pPr marL="1828800" eaLnBrk="0" fontAlgn="base" hangingPunct="0">
              <a:spcBef>
                <a:spcPct val="0"/>
              </a:spcBef>
              <a:spcAft>
                <a:spcPct val="0"/>
              </a:spcAft>
              <a:defRPr sz="2400" b="1">
                <a:solidFill>
                  <a:schemeClr val="tx1"/>
                </a:solidFill>
                <a:latin typeface="Arial" charset="0"/>
                <a:cs typeface="Arial" charset="0"/>
              </a:defRPr>
            </a:lvl9pPr>
          </a:lstStyle>
          <a:p>
            <a:pPr algn="r" eaLnBrk="1" hangingPunct="1">
              <a:spcBef>
                <a:spcPct val="50000"/>
              </a:spcBef>
              <a:defRPr/>
            </a:pPr>
            <a:r>
              <a:rPr lang="fr-FR" sz="1600" smtClean="0">
                <a:latin typeface="Helvetica" charset="0"/>
              </a:rPr>
              <a:t>Celine MARCY, IDDRI</a:t>
            </a:r>
          </a:p>
        </p:txBody>
      </p:sp>
      <p:sp>
        <p:nvSpPr>
          <p:cNvPr id="118794" name="Rectangle 10"/>
          <p:cNvSpPr>
            <a:spLocks noGrp="1" noChangeArrowheads="1"/>
          </p:cNvSpPr>
          <p:nvPr>
            <p:ph type="ctrTitle" sz="quarter"/>
          </p:nvPr>
        </p:nvSpPr>
        <p:spPr>
          <a:xfrm>
            <a:off x="466725" y="2535238"/>
            <a:ext cx="8642350" cy="1470025"/>
          </a:xfrm>
        </p:spPr>
        <p:txBody>
          <a:bodyPr anchor="ctr"/>
          <a:lstStyle>
            <a:lvl1pPr>
              <a:defRPr sz="3200" b="0"/>
            </a:lvl1pPr>
          </a:lstStyle>
          <a:p>
            <a:r>
              <a:rPr lang="en-GB"/>
              <a:t>Cliquez pour modifier le style du titreel</a:t>
            </a:r>
          </a:p>
        </p:txBody>
      </p:sp>
      <p:sp>
        <p:nvSpPr>
          <p:cNvPr id="118795" name="Rectangle 11"/>
          <p:cNvSpPr>
            <a:spLocks noGrp="1" noChangeArrowheads="1"/>
          </p:cNvSpPr>
          <p:nvPr>
            <p:ph type="subTitle" sz="quarter" idx="1"/>
          </p:nvPr>
        </p:nvSpPr>
        <p:spPr>
          <a:xfrm>
            <a:off x="476250" y="4318000"/>
            <a:ext cx="6400800" cy="766763"/>
          </a:xfrm>
        </p:spPr>
        <p:txBody>
          <a:bodyPr lIns="91440" rIns="91440"/>
          <a:lstStyle>
            <a:lvl1pPr>
              <a:defRPr/>
            </a:lvl1pPr>
          </a:lstStyle>
          <a:p>
            <a:r>
              <a:rPr lang="en-GB"/>
              <a:t>Cliquez pour modifier le style des sous-titres du masque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dirty="0" smtClean="0"/>
              <a:t>Cliquez pour modifier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fr-F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smtClean="0"/>
              <a:t>Cliquez pour modifier les styles du texte du masque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250825" y="1557338"/>
            <a:ext cx="4244975" cy="4824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557338"/>
            <a:ext cx="4244975" cy="4824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732588" y="346075"/>
            <a:ext cx="2160587" cy="603567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250825" y="346075"/>
            <a:ext cx="6329363" cy="603567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a:prstGeom prst="rect">
            <a:avLst/>
          </a:prstGeo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smtClean="0"/>
              <a:t>Cliquez pour modifier le style des sous-titres du masque</a:t>
            </a:r>
            <a:endParaRPr lang="fr-F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p>
            <a:r>
              <a:rPr lang="fr-FR" smtClean="0"/>
              <a:t>Cliquez pour modifier le style du titre</a:t>
            </a:r>
            <a:endParaRPr lang="fr-FR"/>
          </a:p>
        </p:txBody>
      </p:sp>
      <p:sp>
        <p:nvSpPr>
          <p:cNvPr id="3" name="Espace réservé du contenu 2"/>
          <p:cNvSpPr>
            <a:spLocks noGrp="1"/>
          </p:cNvSpPr>
          <p:nvPr>
            <p:ph idx="1"/>
          </p:nvPr>
        </p:nvSpPr>
        <p:spPr>
          <a:xfrm>
            <a:off x="457200" y="1600200"/>
            <a:ext cx="8229600" cy="4525963"/>
          </a:xfrm>
          <a:prstGeom prst="rect">
            <a:avLst/>
          </a:prstGeo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smtClean="0"/>
              <a:t>Cliquez pour modifier les styles du texte du masque</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p>
            <a:r>
              <a:rPr lang="fr-FR" smtClean="0"/>
              <a:t>Cliquez pour modifier le style du titre</a:t>
            </a:r>
            <a:endParaRPr lang="fr-F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a:prstGeom prst="rect">
            <a:avLst/>
          </a:prstGeo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smtClean="0"/>
          </a:p>
        </p:txBody>
      </p:sp>
      <p:sp>
        <p:nvSpPr>
          <p:cNvPr id="4" name="Espace réservé du texte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457200" y="1600200"/>
            <a:ext cx="8229600" cy="4525963"/>
          </a:xfrm>
          <a:prstGeom prst="rect">
            <a:avLst/>
          </a:prstGeo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4" name="Rectangle 3"/>
          <p:cNvSpPr/>
          <p:nvPr userDrawn="1"/>
        </p:nvSpPr>
        <p:spPr>
          <a:xfrm>
            <a:off x="0" y="5732463"/>
            <a:ext cx="9144000" cy="1125537"/>
          </a:xfrm>
          <a:prstGeom prst="rect">
            <a:avLst/>
          </a:prstGeom>
          <a:solidFill>
            <a:srgbClr val="990000"/>
          </a:solidFill>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r>
              <a:rPr lang="en-US" b="0" dirty="0">
                <a:solidFill>
                  <a:prstClr val="white"/>
                </a:solidFill>
              </a:rPr>
              <a:t> </a:t>
            </a:r>
            <a:r>
              <a:rPr lang="en-US" dirty="0">
                <a:solidFill>
                  <a:prstClr val="white"/>
                </a:solidFill>
              </a:rPr>
              <a:t>Institute for Sustainable Development and International Relations </a:t>
            </a:r>
            <a:endParaRPr lang="en-US" b="0" dirty="0">
              <a:solidFill>
                <a:prstClr val="white"/>
              </a:solidFill>
            </a:endParaRPr>
          </a:p>
          <a:p>
            <a:pPr algn="ctr" fontAlgn="auto">
              <a:spcBef>
                <a:spcPts val="0"/>
              </a:spcBef>
              <a:spcAft>
                <a:spcPts val="0"/>
              </a:spcAft>
              <a:defRPr/>
            </a:pPr>
            <a:r>
              <a:rPr lang="fr-FR" b="0" dirty="0">
                <a:solidFill>
                  <a:prstClr val="white"/>
                </a:solidFill>
              </a:rPr>
              <a:t>41 rue du Four – 75006 Paris - France </a:t>
            </a:r>
          </a:p>
          <a:p>
            <a:pPr algn="ctr" fontAlgn="auto">
              <a:spcBef>
                <a:spcPts val="0"/>
              </a:spcBef>
              <a:spcAft>
                <a:spcPts val="0"/>
              </a:spcAft>
              <a:defRPr/>
            </a:pPr>
            <a:r>
              <a:rPr lang="fr-FR" dirty="0">
                <a:solidFill>
                  <a:prstClr val="white"/>
                </a:solidFill>
              </a:rPr>
              <a:t>www.iddri.org </a:t>
            </a:r>
            <a:endParaRPr lang="fr-FR" b="0" dirty="0">
              <a:solidFill>
                <a:prstClr val="white"/>
              </a:solidFill>
            </a:endParaRPr>
          </a:p>
        </p:txBody>
      </p:sp>
      <p:sp>
        <p:nvSpPr>
          <p:cNvPr id="2" name="Titre 1"/>
          <p:cNvSpPr>
            <a:spLocks noGrp="1"/>
          </p:cNvSpPr>
          <p:nvPr>
            <p:ph type="ctrTitle"/>
          </p:nvPr>
        </p:nvSpPr>
        <p:spPr>
          <a:xfrm>
            <a:off x="685800" y="2130425"/>
            <a:ext cx="7772400" cy="1470025"/>
          </a:xfrm>
        </p:spPr>
        <p:txBody>
          <a:bodyPr/>
          <a:lstStyle/>
          <a:p>
            <a:r>
              <a:rPr lang="fr-FR" dirty="0" smtClean="0"/>
              <a:t>Modifiez le style du titre</a:t>
            </a:r>
            <a:endParaRPr lang="fr-FR" dirty="0"/>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fr-FR"/>
          </a:p>
        </p:txBody>
      </p:sp>
      <p:sp>
        <p:nvSpPr>
          <p:cNvPr id="5" name="Espace réservé de la date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endParaRPr lang="fr-FR"/>
          </a:p>
        </p:txBody>
      </p:sp>
      <p:sp>
        <p:nvSpPr>
          <p:cNvPr id="6" name="Espace réservé du pied de page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fr-FR" smtClean="0"/>
              <a:t>Teresa Ribera, Director IDDRI</a:t>
            </a:r>
            <a:endParaRPr lang="fr-FR" dirty="0"/>
          </a:p>
        </p:txBody>
      </p:sp>
      <p:sp>
        <p:nvSpPr>
          <p:cNvPr id="7" name="Espace réservé du numéro de diapositive 5"/>
          <p:cNvSpPr>
            <a:spLocks noGrp="1"/>
          </p:cNvSpPr>
          <p:nvPr>
            <p:ph type="sldNum" sz="quarter" idx="12"/>
          </p:nvPr>
        </p:nvSpPr>
        <p:spPr/>
        <p:txBody>
          <a:bodyPr/>
          <a:lstStyle>
            <a:lvl1pPr fontAlgn="base">
              <a:spcBef>
                <a:spcPct val="0"/>
              </a:spcBef>
              <a:spcAft>
                <a:spcPct val="0"/>
              </a:spcAft>
              <a:defRPr b="1">
                <a:latin typeface="Arial" charset="0"/>
                <a:cs typeface="Arial" charset="0"/>
              </a:defRPr>
            </a:lvl1pPr>
          </a:lstStyle>
          <a:p>
            <a:pPr>
              <a:defRPr/>
            </a:pPr>
            <a:fld id="{374D8851-0E8B-4CDF-A00F-28124D5EC5FA}" type="slidenum">
              <a:rPr lang="fr-FR"/>
              <a:pPr>
                <a:defRPr/>
              </a:pPr>
              <a:t>‹#›</a:t>
            </a:fld>
            <a:endParaRPr lang="fr-F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4" name="Rectangle 3"/>
          <p:cNvSpPr/>
          <p:nvPr userDrawn="1"/>
        </p:nvSpPr>
        <p:spPr>
          <a:xfrm>
            <a:off x="468313" y="1036638"/>
            <a:ext cx="8207375" cy="73025"/>
          </a:xfrm>
          <a:prstGeom prst="rect">
            <a:avLst/>
          </a:prstGeom>
          <a:gradFill flip="none" rotWithShape="1">
            <a:gsLst>
              <a:gs pos="0">
                <a:schemeClr val="accent2">
                  <a:shade val="51000"/>
                  <a:satMod val="130000"/>
                </a:schemeClr>
              </a:gs>
              <a:gs pos="52000">
                <a:schemeClr val="accent2">
                  <a:shade val="93000"/>
                  <a:satMod val="130000"/>
                  <a:lumMod val="60000"/>
                  <a:lumOff val="40000"/>
                </a:schemeClr>
              </a:gs>
              <a:gs pos="100000">
                <a:schemeClr val="accent2">
                  <a:lumMod val="40000"/>
                  <a:lumOff val="60000"/>
                  <a:alpha val="16000"/>
                </a:schemeClr>
              </a:gs>
            </a:gsLst>
            <a:lin ang="0" scaled="1"/>
            <a:tileRect/>
          </a:gradFill>
          <a:ln>
            <a:noFill/>
          </a:ln>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endParaRPr lang="fr-FR" b="0">
              <a:solidFill>
                <a:prstClr val="white"/>
              </a:solidFill>
            </a:endParaRPr>
          </a:p>
        </p:txBody>
      </p:sp>
      <p:sp>
        <p:nvSpPr>
          <p:cNvPr id="2" name="Titre 1"/>
          <p:cNvSpPr>
            <a:spLocks noGrp="1"/>
          </p:cNvSpPr>
          <p:nvPr>
            <p:ph type="title"/>
          </p:nvPr>
        </p:nvSpPr>
        <p:spPr>
          <a:xfrm>
            <a:off x="457200" y="274638"/>
            <a:ext cx="8229600" cy="922114"/>
          </a:xfrm>
        </p:spPr>
        <p:txBody>
          <a:bodyPr>
            <a:normAutofit/>
          </a:bodyPr>
          <a:lstStyle>
            <a:lvl1pPr algn="l">
              <a:defRPr sz="2400" b="1">
                <a:solidFill>
                  <a:srgbClr val="990000"/>
                </a:solidFill>
                <a:latin typeface="Arial" pitchFamily="34" charset="0"/>
                <a:cs typeface="Arial" pitchFamily="34" charset="0"/>
              </a:defRPr>
            </a:lvl1pPr>
          </a:lstStyle>
          <a:p>
            <a:r>
              <a:rPr lang="fr-FR" dirty="0" smtClean="0"/>
              <a:t>Modifiez le style du titre</a:t>
            </a:r>
            <a:endParaRPr lang="fr-FR" dirty="0"/>
          </a:p>
        </p:txBody>
      </p:sp>
      <p:sp>
        <p:nvSpPr>
          <p:cNvPr id="3" name="Espace réservé du contenu 2"/>
          <p:cNvSpPr>
            <a:spLocks noGrp="1"/>
          </p:cNvSpPr>
          <p:nvPr>
            <p:ph idx="1"/>
          </p:nvPr>
        </p:nvSpPr>
        <p:spPr/>
        <p:txBody>
          <a:bodyPr>
            <a:normAutofit/>
          </a:bodyPr>
          <a:lstStyle>
            <a:lvl1pPr marL="0" indent="0">
              <a:buNone/>
              <a:defRPr sz="2000" b="1" u="sng">
                <a:latin typeface="Cambria" pitchFamily="18" charset="0"/>
              </a:defRPr>
            </a:lvl1pPr>
            <a:lvl2pPr marL="444500" indent="-342900">
              <a:buFont typeface="Arial" pitchFamily="34" charset="0"/>
              <a:buChar char="•"/>
              <a:defRPr sz="2000">
                <a:latin typeface="Cambria" pitchFamily="18" charset="0"/>
              </a:defRPr>
            </a:lvl2pPr>
            <a:lvl3pPr>
              <a:defRPr sz="1800">
                <a:latin typeface="Cambria" pitchFamily="18" charset="0"/>
              </a:defRPr>
            </a:lvl3pPr>
            <a:lvl4pPr>
              <a:defRPr sz="1800">
                <a:latin typeface="Cambria" pitchFamily="18" charset="0"/>
              </a:defRPr>
            </a:lvl4pPr>
            <a:lvl5pPr>
              <a:defRPr sz="1800">
                <a:latin typeface="Cambria" pitchFamily="18" charset="0"/>
              </a:defRPr>
            </a:lvl5pPr>
          </a:lstStyle>
          <a:p>
            <a:pPr lvl="0"/>
            <a:r>
              <a:rPr lang="fr-FR" dirty="0" smtClean="0"/>
              <a:t>Modifiez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fr-FR" dirty="0"/>
          </a:p>
        </p:txBody>
      </p:sp>
      <p:sp>
        <p:nvSpPr>
          <p:cNvPr id="5" name="Espace réservé de la date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endParaRPr lang="fr-FR"/>
          </a:p>
        </p:txBody>
      </p:sp>
      <p:sp>
        <p:nvSpPr>
          <p:cNvPr id="6" name="Espace réservé du pied de page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fr-FR" smtClean="0"/>
              <a:t>Teresa Ribera, Director IDDRI</a:t>
            </a:r>
            <a:endParaRPr lang="fr-FR"/>
          </a:p>
        </p:txBody>
      </p:sp>
      <p:sp>
        <p:nvSpPr>
          <p:cNvPr id="7" name="Espace réservé du numéro de diapositive 5"/>
          <p:cNvSpPr>
            <a:spLocks noGrp="1"/>
          </p:cNvSpPr>
          <p:nvPr>
            <p:ph type="sldNum" sz="quarter" idx="12"/>
          </p:nvPr>
        </p:nvSpPr>
        <p:spPr/>
        <p:txBody>
          <a:bodyPr/>
          <a:lstStyle>
            <a:lvl1pPr fontAlgn="base">
              <a:spcBef>
                <a:spcPct val="0"/>
              </a:spcBef>
              <a:spcAft>
                <a:spcPct val="0"/>
              </a:spcAft>
              <a:defRPr b="1">
                <a:latin typeface="Arial" charset="0"/>
                <a:cs typeface="Arial" charset="0"/>
              </a:defRPr>
            </a:lvl1pPr>
          </a:lstStyle>
          <a:p>
            <a:pPr>
              <a:defRPr/>
            </a:pPr>
            <a:fld id="{868416C8-5AB5-4929-B865-F4F925A49094}" type="slidenum">
              <a:rPr lang="fr-FR"/>
              <a:pPr>
                <a:defRPr/>
              </a:pPr>
              <a:t>‹#›</a:t>
            </a:fld>
            <a:endParaRPr lang="fr-F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Modifiez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fr-FR" smtClean="0"/>
              <a:t>Teresa Ribera, Director IDDRI</a:t>
            </a:r>
            <a:endParaRPr lang="fr-FR"/>
          </a:p>
        </p:txBody>
      </p:sp>
      <p:sp>
        <p:nvSpPr>
          <p:cNvPr id="6" name="Espace réservé du numéro de diapositive 5"/>
          <p:cNvSpPr>
            <a:spLocks noGrp="1"/>
          </p:cNvSpPr>
          <p:nvPr>
            <p:ph type="sldNum" sz="quarter" idx="12"/>
          </p:nvPr>
        </p:nvSpPr>
        <p:spPr/>
        <p:txBody>
          <a:bodyPr/>
          <a:lstStyle>
            <a:lvl1pPr fontAlgn="base">
              <a:spcBef>
                <a:spcPct val="0"/>
              </a:spcBef>
              <a:spcAft>
                <a:spcPct val="0"/>
              </a:spcAft>
              <a:defRPr b="1">
                <a:latin typeface="Arial" charset="0"/>
                <a:cs typeface="Arial" charset="0"/>
              </a:defRPr>
            </a:lvl1pPr>
          </a:lstStyle>
          <a:p>
            <a:pPr>
              <a:defRPr/>
            </a:pPr>
            <a:fld id="{2A6BAE2C-736C-422E-927E-AEEE412F71B6}" type="slidenum">
              <a:rPr lang="fr-FR"/>
              <a:pPr>
                <a:defRPr/>
              </a:pPr>
              <a:t>‹#›</a:t>
            </a:fld>
            <a:endParaRPr lang="fr-F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endParaRPr lang="fr-FR"/>
          </a:p>
        </p:txBody>
      </p:sp>
      <p:sp>
        <p:nvSpPr>
          <p:cNvPr id="6" name="Espace réservé du pied de page 5"/>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fr-FR" smtClean="0"/>
              <a:t>Teresa Ribera, Director IDDRI</a:t>
            </a:r>
            <a:endParaRPr lang="fr-FR"/>
          </a:p>
        </p:txBody>
      </p:sp>
      <p:sp>
        <p:nvSpPr>
          <p:cNvPr id="7" name="Espace réservé du numéro de diapositive 6"/>
          <p:cNvSpPr>
            <a:spLocks noGrp="1"/>
          </p:cNvSpPr>
          <p:nvPr>
            <p:ph type="sldNum" sz="quarter" idx="12"/>
          </p:nvPr>
        </p:nvSpPr>
        <p:spPr/>
        <p:txBody>
          <a:bodyPr/>
          <a:lstStyle>
            <a:lvl1pPr fontAlgn="base">
              <a:spcBef>
                <a:spcPct val="0"/>
              </a:spcBef>
              <a:spcAft>
                <a:spcPct val="0"/>
              </a:spcAft>
              <a:defRPr b="1">
                <a:latin typeface="Arial" charset="0"/>
                <a:cs typeface="Arial" charset="0"/>
              </a:defRPr>
            </a:lvl1pPr>
          </a:lstStyle>
          <a:p>
            <a:pPr>
              <a:defRPr/>
            </a:pPr>
            <a:fld id="{40FD4F7C-9AF2-407B-8761-B9D054CAB8AD}" type="slidenum">
              <a:rPr lang="fr-FR"/>
              <a:pPr>
                <a:defRPr/>
              </a:pPr>
              <a:t>‹#›</a:t>
            </a:fld>
            <a:endParaRPr lang="fr-F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Modifiez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endParaRPr lang="fr-FR"/>
          </a:p>
        </p:txBody>
      </p:sp>
      <p:sp>
        <p:nvSpPr>
          <p:cNvPr id="8" name="Espace réservé du pied de page 7"/>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fr-FR" smtClean="0"/>
              <a:t>Teresa Ribera, Director IDDRI</a:t>
            </a:r>
            <a:endParaRPr lang="fr-FR"/>
          </a:p>
        </p:txBody>
      </p:sp>
      <p:sp>
        <p:nvSpPr>
          <p:cNvPr id="9" name="Espace réservé du numéro de diapositive 8"/>
          <p:cNvSpPr>
            <a:spLocks noGrp="1"/>
          </p:cNvSpPr>
          <p:nvPr>
            <p:ph type="sldNum" sz="quarter" idx="12"/>
          </p:nvPr>
        </p:nvSpPr>
        <p:spPr/>
        <p:txBody>
          <a:bodyPr/>
          <a:lstStyle>
            <a:lvl1pPr fontAlgn="base">
              <a:spcBef>
                <a:spcPct val="0"/>
              </a:spcBef>
              <a:spcAft>
                <a:spcPct val="0"/>
              </a:spcAft>
              <a:defRPr b="1">
                <a:latin typeface="Arial" charset="0"/>
                <a:cs typeface="Arial" charset="0"/>
              </a:defRPr>
            </a:lvl1pPr>
          </a:lstStyle>
          <a:p>
            <a:pPr>
              <a:defRPr/>
            </a:pPr>
            <a:fld id="{2357C7C7-257C-4B58-876D-D565085053DF}" type="slidenum">
              <a:rPr lang="fr-FR"/>
              <a:pPr>
                <a:defRPr/>
              </a:pPr>
              <a:t>‹#›</a:t>
            </a:fld>
            <a:endParaRPr lang="fr-F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endParaRPr lang="fr-FR"/>
          </a:p>
        </p:txBody>
      </p:sp>
      <p:sp>
        <p:nvSpPr>
          <p:cNvPr id="4" name="Espace réservé du pied de page 3"/>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fr-FR" smtClean="0"/>
              <a:t>Teresa Ribera, Director IDDRI</a:t>
            </a:r>
            <a:endParaRPr lang="fr-FR"/>
          </a:p>
        </p:txBody>
      </p:sp>
      <p:sp>
        <p:nvSpPr>
          <p:cNvPr id="5" name="Espace réservé du numéro de diapositive 4"/>
          <p:cNvSpPr>
            <a:spLocks noGrp="1"/>
          </p:cNvSpPr>
          <p:nvPr>
            <p:ph type="sldNum" sz="quarter" idx="12"/>
          </p:nvPr>
        </p:nvSpPr>
        <p:spPr/>
        <p:txBody>
          <a:bodyPr/>
          <a:lstStyle>
            <a:lvl1pPr fontAlgn="base">
              <a:spcBef>
                <a:spcPct val="0"/>
              </a:spcBef>
              <a:spcAft>
                <a:spcPct val="0"/>
              </a:spcAft>
              <a:defRPr b="1">
                <a:latin typeface="Arial" charset="0"/>
                <a:cs typeface="Arial" charset="0"/>
              </a:defRPr>
            </a:lvl1pPr>
          </a:lstStyle>
          <a:p>
            <a:pPr>
              <a:defRPr/>
            </a:pPr>
            <a:fld id="{BE7A9067-DAE7-493D-B720-29F243A56C19}" type="slidenum">
              <a:rPr lang="fr-FR"/>
              <a:pPr>
                <a:defRPr/>
              </a:pPr>
              <a:t>‹#›</a:t>
            </a:fld>
            <a:endParaRPr lang="fr-F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endParaRPr lang="fr-FR"/>
          </a:p>
        </p:txBody>
      </p:sp>
      <p:sp>
        <p:nvSpPr>
          <p:cNvPr id="3" name="Espace réservé du pied de page 2"/>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fr-FR" smtClean="0"/>
              <a:t>Teresa Ribera, Director IDDRI</a:t>
            </a:r>
            <a:endParaRPr lang="fr-FR"/>
          </a:p>
        </p:txBody>
      </p:sp>
      <p:sp>
        <p:nvSpPr>
          <p:cNvPr id="4" name="Espace réservé du numéro de diapositive 3"/>
          <p:cNvSpPr>
            <a:spLocks noGrp="1"/>
          </p:cNvSpPr>
          <p:nvPr>
            <p:ph type="sldNum" sz="quarter" idx="12"/>
          </p:nvPr>
        </p:nvSpPr>
        <p:spPr/>
        <p:txBody>
          <a:bodyPr/>
          <a:lstStyle>
            <a:lvl1pPr fontAlgn="base">
              <a:spcBef>
                <a:spcPct val="0"/>
              </a:spcBef>
              <a:spcAft>
                <a:spcPct val="0"/>
              </a:spcAft>
              <a:defRPr b="1">
                <a:latin typeface="Arial" charset="0"/>
                <a:cs typeface="Arial" charset="0"/>
              </a:defRPr>
            </a:lvl1pPr>
          </a:lstStyle>
          <a:p>
            <a:pPr>
              <a:defRPr/>
            </a:pPr>
            <a:fld id="{2B5735A6-9D6F-4570-999E-5A55117B0687}" type="slidenum">
              <a:rPr lang="fr-FR"/>
              <a:pPr>
                <a:defRPr/>
              </a:pPr>
              <a:t>‹#›</a:t>
            </a:fld>
            <a:endParaRPr lang="fr-F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Modifiez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endParaRPr lang="fr-FR"/>
          </a:p>
        </p:txBody>
      </p:sp>
      <p:sp>
        <p:nvSpPr>
          <p:cNvPr id="6" name="Espace réservé du pied de page 5"/>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fr-FR" smtClean="0"/>
              <a:t>Teresa Ribera, Director IDDRI</a:t>
            </a:r>
            <a:endParaRPr lang="fr-FR"/>
          </a:p>
        </p:txBody>
      </p:sp>
      <p:sp>
        <p:nvSpPr>
          <p:cNvPr id="7" name="Espace réservé du numéro de diapositive 6"/>
          <p:cNvSpPr>
            <a:spLocks noGrp="1"/>
          </p:cNvSpPr>
          <p:nvPr>
            <p:ph type="sldNum" sz="quarter" idx="12"/>
          </p:nvPr>
        </p:nvSpPr>
        <p:spPr/>
        <p:txBody>
          <a:bodyPr/>
          <a:lstStyle>
            <a:lvl1pPr fontAlgn="base">
              <a:spcBef>
                <a:spcPct val="0"/>
              </a:spcBef>
              <a:spcAft>
                <a:spcPct val="0"/>
              </a:spcAft>
              <a:defRPr b="1">
                <a:latin typeface="Arial" charset="0"/>
                <a:cs typeface="Arial" charset="0"/>
              </a:defRPr>
            </a:lvl1pPr>
          </a:lstStyle>
          <a:p>
            <a:pPr>
              <a:defRPr/>
            </a:pPr>
            <a:fld id="{F919D68B-5704-4152-AF9D-BBCC48AB4410}" type="slidenum">
              <a:rPr lang="fr-FR"/>
              <a:pPr>
                <a:defRPr/>
              </a:pPr>
              <a:t>‹#›</a:t>
            </a:fld>
            <a:endParaRPr lang="fr-F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Modifiez le style du titre</a:t>
            </a:r>
            <a:endParaRPr lang="fr-FR"/>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endParaRPr lang="fr-FR"/>
          </a:p>
        </p:txBody>
      </p:sp>
      <p:sp>
        <p:nvSpPr>
          <p:cNvPr id="6" name="Espace réservé du pied de page 5"/>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fr-FR" smtClean="0"/>
              <a:t>Teresa Ribera, Director IDDRI</a:t>
            </a:r>
            <a:endParaRPr lang="fr-FR"/>
          </a:p>
        </p:txBody>
      </p:sp>
      <p:sp>
        <p:nvSpPr>
          <p:cNvPr id="7" name="Espace réservé du numéro de diapositive 6"/>
          <p:cNvSpPr>
            <a:spLocks noGrp="1"/>
          </p:cNvSpPr>
          <p:nvPr>
            <p:ph type="sldNum" sz="quarter" idx="12"/>
          </p:nvPr>
        </p:nvSpPr>
        <p:spPr/>
        <p:txBody>
          <a:bodyPr/>
          <a:lstStyle>
            <a:lvl1pPr fontAlgn="base">
              <a:spcBef>
                <a:spcPct val="0"/>
              </a:spcBef>
              <a:spcAft>
                <a:spcPct val="0"/>
              </a:spcAft>
              <a:defRPr b="1">
                <a:latin typeface="Arial" charset="0"/>
                <a:cs typeface="Arial" charset="0"/>
              </a:defRPr>
            </a:lvl1pPr>
          </a:lstStyle>
          <a:p>
            <a:pPr>
              <a:defRPr/>
            </a:pPr>
            <a:fld id="{712E3A59-BD6A-4D20-821C-7F0AADF14E26}" type="slidenum">
              <a:rPr lang="fr-FR"/>
              <a:pPr>
                <a:defRPr/>
              </a:pPr>
              <a:t>‹#›</a:t>
            </a:fld>
            <a:endParaRPr lang="fr-F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fr-FR" smtClean="0"/>
              <a:t>Teresa Ribera, Director IDDRI</a:t>
            </a:r>
            <a:endParaRPr lang="fr-FR"/>
          </a:p>
        </p:txBody>
      </p:sp>
      <p:sp>
        <p:nvSpPr>
          <p:cNvPr id="6" name="Espace réservé du numéro de diapositive 5"/>
          <p:cNvSpPr>
            <a:spLocks noGrp="1"/>
          </p:cNvSpPr>
          <p:nvPr>
            <p:ph type="sldNum" sz="quarter" idx="12"/>
          </p:nvPr>
        </p:nvSpPr>
        <p:spPr/>
        <p:txBody>
          <a:bodyPr/>
          <a:lstStyle>
            <a:lvl1pPr fontAlgn="base">
              <a:spcBef>
                <a:spcPct val="0"/>
              </a:spcBef>
              <a:spcAft>
                <a:spcPct val="0"/>
              </a:spcAft>
              <a:defRPr b="1">
                <a:latin typeface="Arial" charset="0"/>
                <a:cs typeface="Arial" charset="0"/>
              </a:defRPr>
            </a:lvl1pPr>
          </a:lstStyle>
          <a:p>
            <a:pPr>
              <a:defRPr/>
            </a:pPr>
            <a:fld id="{C9E86448-0B1E-48D0-B823-06A7250FB62C}" type="slidenum">
              <a:rPr lang="fr-FR"/>
              <a:pPr>
                <a:defRPr/>
              </a:pPr>
              <a:t>‹#›</a:t>
            </a:fld>
            <a:endParaRPr lang="fr-F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endParaRPr lang="fr-FR"/>
          </a:p>
        </p:txBody>
      </p:sp>
      <p:sp>
        <p:nvSpPr>
          <p:cNvPr id="5" name="Espace réservé du pied de page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fr-FR" smtClean="0"/>
              <a:t>Teresa Ribera, Director IDDRI</a:t>
            </a:r>
            <a:endParaRPr lang="fr-FR"/>
          </a:p>
        </p:txBody>
      </p:sp>
      <p:sp>
        <p:nvSpPr>
          <p:cNvPr id="6" name="Espace réservé du numéro de diapositive 5"/>
          <p:cNvSpPr>
            <a:spLocks noGrp="1"/>
          </p:cNvSpPr>
          <p:nvPr>
            <p:ph type="sldNum" sz="quarter" idx="12"/>
          </p:nvPr>
        </p:nvSpPr>
        <p:spPr/>
        <p:txBody>
          <a:bodyPr/>
          <a:lstStyle>
            <a:lvl1pPr fontAlgn="base">
              <a:spcBef>
                <a:spcPct val="0"/>
              </a:spcBef>
              <a:spcAft>
                <a:spcPct val="0"/>
              </a:spcAft>
              <a:defRPr b="1">
                <a:latin typeface="Arial" charset="0"/>
                <a:cs typeface="Arial" charset="0"/>
              </a:defRPr>
            </a:lvl1pPr>
          </a:lstStyle>
          <a:p>
            <a:pPr>
              <a:defRPr/>
            </a:pPr>
            <a:fld id="{852691E8-4B06-49C2-9381-598C872F9BE0}" type="slidenum">
              <a:rPr lang="fr-FR"/>
              <a:pPr>
                <a:defRPr/>
              </a:pPr>
              <a:t>‹#›</a:t>
            </a:fld>
            <a:endParaRPr lang="fr-F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dirty="0" smtClean="0"/>
              <a:t>Modifiez le style du titre</a:t>
            </a:r>
            <a:endParaRPr lang="fr-FR" dirty="0"/>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endParaRPr lang="fr-FR" dirty="0">
              <a:solidFill>
                <a:prstClr val="white"/>
              </a:solidFill>
            </a:endParaRPr>
          </a:p>
        </p:txBody>
      </p:sp>
      <p:sp>
        <p:nvSpPr>
          <p:cNvPr id="5" name="Espace réservé du pied de page 4"/>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6" name="Espace réservé du numéro de diapositive 5"/>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
        <p:nvSpPr>
          <p:cNvPr id="8" name="Rectangle 7"/>
          <p:cNvSpPr/>
          <p:nvPr userDrawn="1"/>
        </p:nvSpPr>
        <p:spPr>
          <a:xfrm>
            <a:off x="0" y="5733256"/>
            <a:ext cx="9144000" cy="1124744"/>
          </a:xfrm>
          <a:prstGeom prst="rect">
            <a:avLst/>
          </a:prstGeom>
          <a:solidFill>
            <a:srgbClr val="990000"/>
          </a:solidFill>
        </p:spPr>
        <p:style>
          <a:lnRef idx="1">
            <a:schemeClr val="accent2"/>
          </a:lnRef>
          <a:fillRef idx="3">
            <a:schemeClr val="accent2"/>
          </a:fillRef>
          <a:effectRef idx="2">
            <a:schemeClr val="accent2"/>
          </a:effectRef>
          <a:fontRef idx="minor">
            <a:schemeClr val="lt1"/>
          </a:fontRef>
        </p:style>
        <p:txBody>
          <a:bodyPr rtlCol="0" anchor="ctr"/>
          <a:lstStyle/>
          <a:p>
            <a:pPr algn="ctr" fontAlgn="auto">
              <a:spcBef>
                <a:spcPts val="0"/>
              </a:spcBef>
              <a:spcAft>
                <a:spcPts val="0"/>
              </a:spcAft>
            </a:pPr>
            <a:r>
              <a:rPr lang="en-US" b="0" dirty="0">
                <a:solidFill>
                  <a:prstClr val="white"/>
                </a:solidFill>
              </a:rPr>
              <a:t> </a:t>
            </a:r>
            <a:r>
              <a:rPr lang="en-US" dirty="0" smtClean="0">
                <a:solidFill>
                  <a:prstClr val="white"/>
                </a:solidFill>
              </a:rPr>
              <a:t>Institut du Développement Durable et des Relations Internationales</a:t>
            </a:r>
            <a:endParaRPr lang="en-US" b="0" dirty="0">
              <a:solidFill>
                <a:prstClr val="white"/>
              </a:solidFill>
            </a:endParaRPr>
          </a:p>
          <a:p>
            <a:pPr algn="ctr" fontAlgn="auto">
              <a:spcBef>
                <a:spcPts val="0"/>
              </a:spcBef>
              <a:spcAft>
                <a:spcPts val="0"/>
              </a:spcAft>
            </a:pPr>
            <a:r>
              <a:rPr lang="fr-FR" b="0" dirty="0">
                <a:solidFill>
                  <a:prstClr val="white"/>
                </a:solidFill>
              </a:rPr>
              <a:t>41 rue du Four – 75006 Paris - France </a:t>
            </a:r>
          </a:p>
          <a:p>
            <a:pPr algn="ctr" fontAlgn="auto">
              <a:spcBef>
                <a:spcPts val="0"/>
              </a:spcBef>
              <a:spcAft>
                <a:spcPts val="0"/>
              </a:spcAft>
            </a:pPr>
            <a:r>
              <a:rPr lang="fr-FR" dirty="0">
                <a:solidFill>
                  <a:prstClr val="white"/>
                </a:solidFill>
              </a:rPr>
              <a:t>www.iddri.org </a:t>
            </a:r>
            <a:endParaRPr lang="fr-FR" b="0" dirty="0">
              <a:solidFill>
                <a:prstClr val="white"/>
              </a:solidFill>
            </a:endParaRPr>
          </a:p>
        </p:txBody>
      </p:sp>
    </p:spTree>
    <p:extLst>
      <p:ext uri="{BB962C8B-B14F-4D97-AF65-F5344CB8AC3E}">
        <p14:creationId xmlns:p14="http://schemas.microsoft.com/office/powerpoint/2010/main" val="2185106697"/>
      </p:ext>
    </p:extLst>
  </p:cSld>
  <p:clrMapOvr>
    <a:masterClrMapping/>
  </p:clrMapOvr>
  <p:timing>
    <p:tnLst>
      <p:par>
        <p:cTn xmlns:p14="http://schemas.microsoft.com/office/powerpoint/2010/mai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922114"/>
          </a:xfrm>
        </p:spPr>
        <p:txBody>
          <a:bodyPr>
            <a:normAutofit/>
          </a:bodyPr>
          <a:lstStyle>
            <a:lvl1pPr algn="l">
              <a:defRPr sz="2800" b="1">
                <a:solidFill>
                  <a:srgbClr val="990000"/>
                </a:solidFill>
                <a:latin typeface="Arial" pitchFamily="34" charset="0"/>
                <a:cs typeface="Arial" pitchFamily="34" charset="0"/>
              </a:defRPr>
            </a:lvl1pPr>
          </a:lstStyle>
          <a:p>
            <a:r>
              <a:rPr lang="fr-FR" dirty="0" smtClean="0"/>
              <a:t>Modifiez le style du titre</a:t>
            </a:r>
            <a:endParaRPr lang="fr-FR" dirty="0"/>
          </a:p>
        </p:txBody>
      </p:sp>
      <p:sp>
        <p:nvSpPr>
          <p:cNvPr id="3" name="Espace réservé du contenu 2"/>
          <p:cNvSpPr>
            <a:spLocks noGrp="1"/>
          </p:cNvSpPr>
          <p:nvPr>
            <p:ph idx="1"/>
          </p:nvPr>
        </p:nvSpPr>
        <p:spPr/>
        <p:txBody>
          <a:bodyPr/>
          <a:lstStyle>
            <a:lvl1pPr marL="0" indent="0">
              <a:spcBef>
                <a:spcPts val="0"/>
              </a:spcBef>
              <a:spcAft>
                <a:spcPts val="600"/>
              </a:spcAft>
              <a:buNone/>
              <a:defRPr sz="2000" b="0" u="none">
                <a:latin typeface="+mn-lt"/>
                <a:cs typeface="Arial" pitchFamily="34" charset="0"/>
              </a:defRPr>
            </a:lvl1pPr>
            <a:lvl2pPr marL="444500" indent="-342900">
              <a:spcBef>
                <a:spcPts val="0"/>
              </a:spcBef>
              <a:spcAft>
                <a:spcPts val="600"/>
              </a:spcAft>
              <a:buFont typeface="Arial" pitchFamily="34" charset="0"/>
              <a:buChar char="•"/>
              <a:defRPr sz="2000" b="0">
                <a:latin typeface="+mn-lt"/>
                <a:cs typeface="Arial" pitchFamily="34" charset="0"/>
              </a:defRPr>
            </a:lvl2pPr>
            <a:lvl3pPr>
              <a:spcBef>
                <a:spcPts val="0"/>
              </a:spcBef>
              <a:spcAft>
                <a:spcPts val="600"/>
              </a:spcAft>
              <a:defRPr sz="2000" b="0">
                <a:latin typeface="+mn-lt"/>
                <a:cs typeface="Arial" pitchFamily="34" charset="0"/>
              </a:defRPr>
            </a:lvl3pPr>
            <a:lvl4pPr>
              <a:spcBef>
                <a:spcPts val="0"/>
              </a:spcBef>
              <a:spcAft>
                <a:spcPts val="600"/>
              </a:spcAft>
              <a:defRPr b="0">
                <a:latin typeface="+mn-lt"/>
                <a:cs typeface="Arial" pitchFamily="34" charset="0"/>
              </a:defRPr>
            </a:lvl4pPr>
            <a:lvl5pPr>
              <a:spcBef>
                <a:spcPts val="0"/>
              </a:spcBef>
              <a:spcAft>
                <a:spcPts val="600"/>
              </a:spcAft>
              <a:defRPr b="0">
                <a:latin typeface="+mn-lt"/>
                <a:cs typeface="Arial" pitchFamily="34" charset="0"/>
              </a:defRPr>
            </a:lvl5pPr>
          </a:lstStyle>
          <a:p>
            <a:pPr lvl="0"/>
            <a:r>
              <a:rPr lang="fr-FR" dirty="0" smtClean="0"/>
              <a:t>Modifiez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fr-FR" dirty="0"/>
          </a:p>
        </p:txBody>
      </p:sp>
      <p:sp>
        <p:nvSpPr>
          <p:cNvPr id="4" name="Espace réservé de la date 3"/>
          <p:cNvSpPr>
            <a:spLocks noGrp="1"/>
          </p:cNvSpPr>
          <p:nvPr>
            <p:ph type="dt" sz="half" idx="10"/>
          </p:nvPr>
        </p:nvSpPr>
        <p:spPr/>
        <p:txBody>
          <a:bodyPr/>
          <a:lstStyle/>
          <a:p>
            <a:endParaRPr lang="fr-FR" dirty="0">
              <a:solidFill>
                <a:prstClr val="white"/>
              </a:solidFill>
            </a:endParaRPr>
          </a:p>
        </p:txBody>
      </p:sp>
      <p:sp>
        <p:nvSpPr>
          <p:cNvPr id="5" name="Espace réservé du pied de page 4"/>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6" name="Espace réservé du numéro de diapositive 5"/>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
        <p:nvSpPr>
          <p:cNvPr id="7" name="Rectangle 6"/>
          <p:cNvSpPr/>
          <p:nvPr userDrawn="1"/>
        </p:nvSpPr>
        <p:spPr>
          <a:xfrm>
            <a:off x="467544" y="1037098"/>
            <a:ext cx="8208912" cy="72008"/>
          </a:xfrm>
          <a:prstGeom prst="rect">
            <a:avLst/>
          </a:prstGeom>
          <a:gradFill flip="none" rotWithShape="1">
            <a:gsLst>
              <a:gs pos="0">
                <a:schemeClr val="accent2">
                  <a:shade val="51000"/>
                  <a:satMod val="130000"/>
                </a:schemeClr>
              </a:gs>
              <a:gs pos="52000">
                <a:schemeClr val="accent2">
                  <a:shade val="93000"/>
                  <a:satMod val="130000"/>
                  <a:lumMod val="60000"/>
                  <a:lumOff val="40000"/>
                </a:schemeClr>
              </a:gs>
              <a:gs pos="100000">
                <a:schemeClr val="accent2">
                  <a:lumMod val="40000"/>
                  <a:lumOff val="60000"/>
                  <a:alpha val="16000"/>
                </a:schemeClr>
              </a:gs>
            </a:gsLst>
            <a:lin ang="0" scaled="1"/>
            <a:tileRec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fontAlgn="auto">
              <a:spcBef>
                <a:spcPts val="0"/>
              </a:spcBef>
              <a:spcAft>
                <a:spcPts val="0"/>
              </a:spcAft>
            </a:pPr>
            <a:endParaRPr lang="fr-FR" b="0" dirty="0">
              <a:solidFill>
                <a:prstClr val="white"/>
              </a:solidFill>
            </a:endParaRPr>
          </a:p>
        </p:txBody>
      </p:sp>
    </p:spTree>
    <p:extLst>
      <p:ext uri="{BB962C8B-B14F-4D97-AF65-F5344CB8AC3E}">
        <p14:creationId xmlns:p14="http://schemas.microsoft.com/office/powerpoint/2010/main" val="3004546163"/>
      </p:ext>
    </p:extLst>
  </p:cSld>
  <p:clrMapOvr>
    <a:masterClrMapping/>
  </p:clrMapOvr>
  <p:timing>
    <p:tnLst>
      <p:par>
        <p:cTn xmlns:p14="http://schemas.microsoft.com/office/powerpoint/2010/mai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Modifiez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endParaRPr lang="fr-FR" dirty="0">
              <a:solidFill>
                <a:prstClr val="white"/>
              </a:solidFill>
            </a:endParaRPr>
          </a:p>
        </p:txBody>
      </p:sp>
      <p:sp>
        <p:nvSpPr>
          <p:cNvPr id="5" name="Espace réservé du pied de page 4"/>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6" name="Espace réservé du numéro de diapositive 5"/>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Tree>
    <p:extLst>
      <p:ext uri="{BB962C8B-B14F-4D97-AF65-F5344CB8AC3E}">
        <p14:creationId xmlns:p14="http://schemas.microsoft.com/office/powerpoint/2010/main" val="3714736693"/>
      </p:ext>
    </p:extLst>
  </p:cSld>
  <p:clrMapOvr>
    <a:masterClrMapping/>
  </p:clrMapOvr>
  <p:timing>
    <p:tnLst>
      <p:par>
        <p:cTn xmlns:p14="http://schemas.microsoft.com/office/powerpoint/2010/mai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endParaRPr lang="fr-FR" dirty="0">
              <a:solidFill>
                <a:prstClr val="white"/>
              </a:solidFill>
            </a:endParaRPr>
          </a:p>
        </p:txBody>
      </p:sp>
      <p:sp>
        <p:nvSpPr>
          <p:cNvPr id="6" name="Espace réservé du pied de page 5"/>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7" name="Espace réservé du numéro de diapositive 6"/>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Tree>
    <p:extLst>
      <p:ext uri="{BB962C8B-B14F-4D97-AF65-F5344CB8AC3E}">
        <p14:creationId xmlns:p14="http://schemas.microsoft.com/office/powerpoint/2010/main" val="174772288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Modifiez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endParaRPr lang="fr-FR" dirty="0">
              <a:solidFill>
                <a:prstClr val="white"/>
              </a:solidFill>
            </a:endParaRPr>
          </a:p>
        </p:txBody>
      </p:sp>
      <p:sp>
        <p:nvSpPr>
          <p:cNvPr id="8" name="Espace réservé du pied de page 7"/>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9" name="Espace réservé du numéro de diapositive 8"/>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Tree>
    <p:extLst>
      <p:ext uri="{BB962C8B-B14F-4D97-AF65-F5344CB8AC3E}">
        <p14:creationId xmlns:p14="http://schemas.microsoft.com/office/powerpoint/2010/main" val="11449964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endParaRPr lang="fr-FR" dirty="0">
              <a:solidFill>
                <a:prstClr val="white"/>
              </a:solidFill>
            </a:endParaRPr>
          </a:p>
        </p:txBody>
      </p:sp>
      <p:sp>
        <p:nvSpPr>
          <p:cNvPr id="4" name="Espace réservé du pied de page 3"/>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5" name="Espace réservé du numéro de diapositive 4"/>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Tree>
    <p:extLst>
      <p:ext uri="{BB962C8B-B14F-4D97-AF65-F5344CB8AC3E}">
        <p14:creationId xmlns:p14="http://schemas.microsoft.com/office/powerpoint/2010/main" val="167138318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endParaRPr lang="fr-FR" dirty="0">
              <a:solidFill>
                <a:prstClr val="white"/>
              </a:solidFill>
            </a:endParaRPr>
          </a:p>
        </p:txBody>
      </p:sp>
      <p:sp>
        <p:nvSpPr>
          <p:cNvPr id="3" name="Espace réservé du pied de page 2"/>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4" name="Espace réservé du numéro de diapositive 3"/>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Tree>
    <p:extLst>
      <p:ext uri="{BB962C8B-B14F-4D97-AF65-F5344CB8AC3E}">
        <p14:creationId xmlns:p14="http://schemas.microsoft.com/office/powerpoint/2010/main" val="6832812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Modifiez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endParaRPr lang="fr-FR" dirty="0">
              <a:solidFill>
                <a:prstClr val="white"/>
              </a:solidFill>
            </a:endParaRPr>
          </a:p>
        </p:txBody>
      </p:sp>
      <p:sp>
        <p:nvSpPr>
          <p:cNvPr id="6" name="Espace réservé du pied de page 5"/>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7" name="Espace réservé du numéro de diapositive 6"/>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Tree>
    <p:extLst>
      <p:ext uri="{BB962C8B-B14F-4D97-AF65-F5344CB8AC3E}">
        <p14:creationId xmlns:p14="http://schemas.microsoft.com/office/powerpoint/2010/main" val="41918147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Modifiez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dirty="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endParaRPr lang="fr-FR" dirty="0">
              <a:solidFill>
                <a:prstClr val="white"/>
              </a:solidFill>
            </a:endParaRPr>
          </a:p>
        </p:txBody>
      </p:sp>
      <p:sp>
        <p:nvSpPr>
          <p:cNvPr id="6" name="Espace réservé du pied de page 5"/>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7" name="Espace réservé du numéro de diapositive 6"/>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Tree>
    <p:extLst>
      <p:ext uri="{BB962C8B-B14F-4D97-AF65-F5344CB8AC3E}">
        <p14:creationId xmlns:p14="http://schemas.microsoft.com/office/powerpoint/2010/main" val="15355893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endParaRPr lang="fr-FR" dirty="0">
              <a:solidFill>
                <a:prstClr val="white"/>
              </a:solidFill>
            </a:endParaRPr>
          </a:p>
        </p:txBody>
      </p:sp>
      <p:sp>
        <p:nvSpPr>
          <p:cNvPr id="5" name="Espace réservé du pied de page 4"/>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6" name="Espace réservé du numéro de diapositive 5"/>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Tree>
    <p:extLst>
      <p:ext uri="{BB962C8B-B14F-4D97-AF65-F5344CB8AC3E}">
        <p14:creationId xmlns:p14="http://schemas.microsoft.com/office/powerpoint/2010/main" val="35544311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endParaRPr lang="fr-FR" dirty="0">
              <a:solidFill>
                <a:prstClr val="white"/>
              </a:solidFill>
            </a:endParaRPr>
          </a:p>
        </p:txBody>
      </p:sp>
      <p:sp>
        <p:nvSpPr>
          <p:cNvPr id="5" name="Espace réservé du pied de page 4"/>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6" name="Espace réservé du numéro de diapositive 5"/>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Tree>
    <p:extLst>
      <p:ext uri="{BB962C8B-B14F-4D97-AF65-F5344CB8AC3E}">
        <p14:creationId xmlns:p14="http://schemas.microsoft.com/office/powerpoint/2010/main" val="207972643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dirty="0" smtClean="0"/>
              <a:t>Modifiez le style du titre</a:t>
            </a:r>
            <a:endParaRPr lang="fr-FR" dirty="0"/>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endParaRPr lang="fr-FR" dirty="0">
              <a:solidFill>
                <a:prstClr val="white"/>
              </a:solidFill>
            </a:endParaRPr>
          </a:p>
        </p:txBody>
      </p:sp>
      <p:sp>
        <p:nvSpPr>
          <p:cNvPr id="5" name="Espace réservé du pied de page 4"/>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6" name="Espace réservé du numéro de diapositive 5"/>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
        <p:nvSpPr>
          <p:cNvPr id="8" name="Rectangle 7"/>
          <p:cNvSpPr/>
          <p:nvPr userDrawn="1"/>
        </p:nvSpPr>
        <p:spPr>
          <a:xfrm>
            <a:off x="0" y="5733256"/>
            <a:ext cx="9144000" cy="1124744"/>
          </a:xfrm>
          <a:prstGeom prst="rect">
            <a:avLst/>
          </a:prstGeom>
          <a:solidFill>
            <a:srgbClr val="990000"/>
          </a:solidFill>
        </p:spPr>
        <p:style>
          <a:lnRef idx="1">
            <a:schemeClr val="accent2"/>
          </a:lnRef>
          <a:fillRef idx="3">
            <a:schemeClr val="accent2"/>
          </a:fillRef>
          <a:effectRef idx="2">
            <a:schemeClr val="accent2"/>
          </a:effectRef>
          <a:fontRef idx="minor">
            <a:schemeClr val="lt1"/>
          </a:fontRef>
        </p:style>
        <p:txBody>
          <a:bodyPr rtlCol="0" anchor="ctr"/>
          <a:lstStyle/>
          <a:p>
            <a:pPr algn="ctr" fontAlgn="auto">
              <a:spcBef>
                <a:spcPts val="0"/>
              </a:spcBef>
              <a:spcAft>
                <a:spcPts val="0"/>
              </a:spcAft>
            </a:pPr>
            <a:r>
              <a:rPr lang="en-US" b="0" dirty="0">
                <a:solidFill>
                  <a:prstClr val="white"/>
                </a:solidFill>
              </a:rPr>
              <a:t> </a:t>
            </a:r>
            <a:r>
              <a:rPr lang="en-US" dirty="0" smtClean="0">
                <a:solidFill>
                  <a:prstClr val="white"/>
                </a:solidFill>
              </a:rPr>
              <a:t>Institut du Développement Durable et des Relations Internationales</a:t>
            </a:r>
            <a:endParaRPr lang="en-US" b="0" dirty="0">
              <a:solidFill>
                <a:prstClr val="white"/>
              </a:solidFill>
            </a:endParaRPr>
          </a:p>
          <a:p>
            <a:pPr algn="ctr" fontAlgn="auto">
              <a:spcBef>
                <a:spcPts val="0"/>
              </a:spcBef>
              <a:spcAft>
                <a:spcPts val="0"/>
              </a:spcAft>
            </a:pPr>
            <a:r>
              <a:rPr lang="fr-FR" b="0" dirty="0">
                <a:solidFill>
                  <a:prstClr val="white"/>
                </a:solidFill>
              </a:rPr>
              <a:t>41 rue du Four – 75006 Paris - France </a:t>
            </a:r>
          </a:p>
          <a:p>
            <a:pPr algn="ctr" fontAlgn="auto">
              <a:spcBef>
                <a:spcPts val="0"/>
              </a:spcBef>
              <a:spcAft>
                <a:spcPts val="0"/>
              </a:spcAft>
            </a:pPr>
            <a:r>
              <a:rPr lang="fr-FR" dirty="0">
                <a:solidFill>
                  <a:prstClr val="white"/>
                </a:solidFill>
              </a:rPr>
              <a:t>www.iddri.org </a:t>
            </a:r>
            <a:endParaRPr lang="fr-FR" b="0" dirty="0">
              <a:solidFill>
                <a:prstClr val="white"/>
              </a:solidFill>
            </a:endParaRPr>
          </a:p>
        </p:txBody>
      </p:sp>
    </p:spTree>
    <p:extLst>
      <p:ext uri="{BB962C8B-B14F-4D97-AF65-F5344CB8AC3E}">
        <p14:creationId xmlns:p14="http://schemas.microsoft.com/office/powerpoint/2010/main" val="1762492587"/>
      </p:ext>
    </p:extLst>
  </p:cSld>
  <p:clrMapOvr>
    <a:masterClrMapping/>
  </p:clrMapOvr>
  <p:timing>
    <p:tnLst>
      <p:par>
        <p:cTn xmlns:p14="http://schemas.microsoft.com/office/powerpoint/2010/mai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922114"/>
          </a:xfrm>
        </p:spPr>
        <p:txBody>
          <a:bodyPr>
            <a:normAutofit/>
          </a:bodyPr>
          <a:lstStyle>
            <a:lvl1pPr algn="l">
              <a:defRPr sz="2800" b="1">
                <a:solidFill>
                  <a:srgbClr val="990000"/>
                </a:solidFill>
                <a:latin typeface="Arial" pitchFamily="34" charset="0"/>
                <a:cs typeface="Arial" pitchFamily="34" charset="0"/>
              </a:defRPr>
            </a:lvl1pPr>
          </a:lstStyle>
          <a:p>
            <a:r>
              <a:rPr lang="fr-FR" dirty="0" smtClean="0"/>
              <a:t>Modifiez le style du titre</a:t>
            </a:r>
            <a:endParaRPr lang="fr-FR" dirty="0"/>
          </a:p>
        </p:txBody>
      </p:sp>
      <p:sp>
        <p:nvSpPr>
          <p:cNvPr id="3" name="Espace réservé du contenu 2"/>
          <p:cNvSpPr>
            <a:spLocks noGrp="1"/>
          </p:cNvSpPr>
          <p:nvPr>
            <p:ph idx="1"/>
          </p:nvPr>
        </p:nvSpPr>
        <p:spPr/>
        <p:txBody>
          <a:bodyPr/>
          <a:lstStyle>
            <a:lvl1pPr marL="0" indent="0">
              <a:spcBef>
                <a:spcPts val="0"/>
              </a:spcBef>
              <a:spcAft>
                <a:spcPts val="600"/>
              </a:spcAft>
              <a:buNone/>
              <a:defRPr sz="2000" b="0" u="none">
                <a:latin typeface="+mn-lt"/>
                <a:cs typeface="Arial" pitchFamily="34" charset="0"/>
              </a:defRPr>
            </a:lvl1pPr>
            <a:lvl2pPr marL="444500" indent="-342900">
              <a:spcBef>
                <a:spcPts val="0"/>
              </a:spcBef>
              <a:spcAft>
                <a:spcPts val="600"/>
              </a:spcAft>
              <a:buFont typeface="Arial" pitchFamily="34" charset="0"/>
              <a:buChar char="•"/>
              <a:defRPr sz="2000" b="0">
                <a:latin typeface="+mn-lt"/>
                <a:cs typeface="Arial" pitchFamily="34" charset="0"/>
              </a:defRPr>
            </a:lvl2pPr>
            <a:lvl3pPr>
              <a:spcBef>
                <a:spcPts val="0"/>
              </a:spcBef>
              <a:spcAft>
                <a:spcPts val="600"/>
              </a:spcAft>
              <a:defRPr sz="2000" b="0">
                <a:latin typeface="+mn-lt"/>
                <a:cs typeface="Arial" pitchFamily="34" charset="0"/>
              </a:defRPr>
            </a:lvl3pPr>
            <a:lvl4pPr>
              <a:spcBef>
                <a:spcPts val="0"/>
              </a:spcBef>
              <a:spcAft>
                <a:spcPts val="600"/>
              </a:spcAft>
              <a:defRPr b="0">
                <a:latin typeface="+mn-lt"/>
                <a:cs typeface="Arial" pitchFamily="34" charset="0"/>
              </a:defRPr>
            </a:lvl4pPr>
            <a:lvl5pPr>
              <a:spcBef>
                <a:spcPts val="0"/>
              </a:spcBef>
              <a:spcAft>
                <a:spcPts val="600"/>
              </a:spcAft>
              <a:defRPr b="0">
                <a:latin typeface="+mn-lt"/>
                <a:cs typeface="Arial" pitchFamily="34" charset="0"/>
              </a:defRPr>
            </a:lvl5pPr>
          </a:lstStyle>
          <a:p>
            <a:pPr lvl="0"/>
            <a:r>
              <a:rPr lang="fr-FR" dirty="0" smtClean="0"/>
              <a:t>Modifiez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fr-FR" dirty="0"/>
          </a:p>
        </p:txBody>
      </p:sp>
      <p:sp>
        <p:nvSpPr>
          <p:cNvPr id="4" name="Espace réservé de la date 3"/>
          <p:cNvSpPr>
            <a:spLocks noGrp="1"/>
          </p:cNvSpPr>
          <p:nvPr>
            <p:ph type="dt" sz="half" idx="10"/>
          </p:nvPr>
        </p:nvSpPr>
        <p:spPr/>
        <p:txBody>
          <a:bodyPr/>
          <a:lstStyle/>
          <a:p>
            <a:endParaRPr lang="fr-FR" dirty="0">
              <a:solidFill>
                <a:prstClr val="white"/>
              </a:solidFill>
            </a:endParaRPr>
          </a:p>
        </p:txBody>
      </p:sp>
      <p:sp>
        <p:nvSpPr>
          <p:cNvPr id="5" name="Espace réservé du pied de page 4"/>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6" name="Espace réservé du numéro de diapositive 5"/>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
        <p:nvSpPr>
          <p:cNvPr id="7" name="Rectangle 6"/>
          <p:cNvSpPr/>
          <p:nvPr userDrawn="1"/>
        </p:nvSpPr>
        <p:spPr>
          <a:xfrm>
            <a:off x="467544" y="1037098"/>
            <a:ext cx="8208912" cy="72008"/>
          </a:xfrm>
          <a:prstGeom prst="rect">
            <a:avLst/>
          </a:prstGeom>
          <a:gradFill flip="none" rotWithShape="1">
            <a:gsLst>
              <a:gs pos="0">
                <a:schemeClr val="accent2">
                  <a:shade val="51000"/>
                  <a:satMod val="130000"/>
                </a:schemeClr>
              </a:gs>
              <a:gs pos="52000">
                <a:schemeClr val="accent2">
                  <a:shade val="93000"/>
                  <a:satMod val="130000"/>
                  <a:lumMod val="60000"/>
                  <a:lumOff val="40000"/>
                </a:schemeClr>
              </a:gs>
              <a:gs pos="100000">
                <a:schemeClr val="accent2">
                  <a:lumMod val="40000"/>
                  <a:lumOff val="60000"/>
                  <a:alpha val="16000"/>
                </a:schemeClr>
              </a:gs>
            </a:gsLst>
            <a:lin ang="0" scaled="1"/>
            <a:tileRec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fontAlgn="auto">
              <a:spcBef>
                <a:spcPts val="0"/>
              </a:spcBef>
              <a:spcAft>
                <a:spcPts val="0"/>
              </a:spcAft>
            </a:pPr>
            <a:endParaRPr lang="fr-FR" b="0" dirty="0">
              <a:solidFill>
                <a:prstClr val="white"/>
              </a:solidFill>
            </a:endParaRPr>
          </a:p>
        </p:txBody>
      </p:sp>
    </p:spTree>
    <p:extLst>
      <p:ext uri="{BB962C8B-B14F-4D97-AF65-F5344CB8AC3E}">
        <p14:creationId xmlns:p14="http://schemas.microsoft.com/office/powerpoint/2010/main" val="1895668571"/>
      </p:ext>
    </p:extLst>
  </p:cSld>
  <p:clrMapOvr>
    <a:masterClrMapping/>
  </p:clrMapOvr>
  <p:timing>
    <p:tnLst>
      <p:par>
        <p:cTn xmlns:p14="http://schemas.microsoft.com/office/powerpoint/2010/mai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Modifiez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endParaRPr lang="fr-FR" dirty="0">
              <a:solidFill>
                <a:prstClr val="white"/>
              </a:solidFill>
            </a:endParaRPr>
          </a:p>
        </p:txBody>
      </p:sp>
      <p:sp>
        <p:nvSpPr>
          <p:cNvPr id="5" name="Espace réservé du pied de page 4"/>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6" name="Espace réservé du numéro de diapositive 5"/>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Tree>
    <p:extLst>
      <p:ext uri="{BB962C8B-B14F-4D97-AF65-F5344CB8AC3E}">
        <p14:creationId xmlns:p14="http://schemas.microsoft.com/office/powerpoint/2010/main" val="4067501101"/>
      </p:ext>
    </p:extLst>
  </p:cSld>
  <p:clrMapOvr>
    <a:masterClrMapping/>
  </p:clrMapOvr>
  <p:timing>
    <p:tnLst>
      <p:par>
        <p:cTn xmlns:p14="http://schemas.microsoft.com/office/powerpoint/2010/mai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endParaRPr lang="fr-FR" dirty="0">
              <a:solidFill>
                <a:prstClr val="white"/>
              </a:solidFill>
            </a:endParaRPr>
          </a:p>
        </p:txBody>
      </p:sp>
      <p:sp>
        <p:nvSpPr>
          <p:cNvPr id="6" name="Espace réservé du pied de page 5"/>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7" name="Espace réservé du numéro de diapositive 6"/>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Tree>
    <p:extLst>
      <p:ext uri="{BB962C8B-B14F-4D97-AF65-F5344CB8AC3E}">
        <p14:creationId xmlns:p14="http://schemas.microsoft.com/office/powerpoint/2010/main" val="572892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Modifiez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endParaRPr lang="fr-FR" dirty="0">
              <a:solidFill>
                <a:prstClr val="white"/>
              </a:solidFill>
            </a:endParaRPr>
          </a:p>
        </p:txBody>
      </p:sp>
      <p:sp>
        <p:nvSpPr>
          <p:cNvPr id="8" name="Espace réservé du pied de page 7"/>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9" name="Espace réservé du numéro de diapositive 8"/>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Tree>
    <p:extLst>
      <p:ext uri="{BB962C8B-B14F-4D97-AF65-F5344CB8AC3E}">
        <p14:creationId xmlns:p14="http://schemas.microsoft.com/office/powerpoint/2010/main" val="126702540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endParaRPr lang="fr-FR" dirty="0">
              <a:solidFill>
                <a:prstClr val="white"/>
              </a:solidFill>
            </a:endParaRPr>
          </a:p>
        </p:txBody>
      </p:sp>
      <p:sp>
        <p:nvSpPr>
          <p:cNvPr id="4" name="Espace réservé du pied de page 3"/>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5" name="Espace réservé du numéro de diapositive 4"/>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Tree>
    <p:extLst>
      <p:ext uri="{BB962C8B-B14F-4D97-AF65-F5344CB8AC3E}">
        <p14:creationId xmlns:p14="http://schemas.microsoft.com/office/powerpoint/2010/main" val="11170703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endParaRPr lang="fr-FR" dirty="0">
              <a:solidFill>
                <a:prstClr val="white"/>
              </a:solidFill>
            </a:endParaRPr>
          </a:p>
        </p:txBody>
      </p:sp>
      <p:sp>
        <p:nvSpPr>
          <p:cNvPr id="3" name="Espace réservé du pied de page 2"/>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4" name="Espace réservé du numéro de diapositive 3"/>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Tree>
    <p:extLst>
      <p:ext uri="{BB962C8B-B14F-4D97-AF65-F5344CB8AC3E}">
        <p14:creationId xmlns:p14="http://schemas.microsoft.com/office/powerpoint/2010/main" val="89527438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Modifiez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endParaRPr lang="fr-FR" dirty="0">
              <a:solidFill>
                <a:prstClr val="white"/>
              </a:solidFill>
            </a:endParaRPr>
          </a:p>
        </p:txBody>
      </p:sp>
      <p:sp>
        <p:nvSpPr>
          <p:cNvPr id="6" name="Espace réservé du pied de page 5"/>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7" name="Espace réservé du numéro de diapositive 6"/>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Tree>
    <p:extLst>
      <p:ext uri="{BB962C8B-B14F-4D97-AF65-F5344CB8AC3E}">
        <p14:creationId xmlns:p14="http://schemas.microsoft.com/office/powerpoint/2010/main" val="398914529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Modifiez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dirty="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endParaRPr lang="fr-FR" dirty="0">
              <a:solidFill>
                <a:prstClr val="white"/>
              </a:solidFill>
            </a:endParaRPr>
          </a:p>
        </p:txBody>
      </p:sp>
      <p:sp>
        <p:nvSpPr>
          <p:cNvPr id="6" name="Espace réservé du pied de page 5"/>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7" name="Espace réservé du numéro de diapositive 6"/>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Tree>
    <p:extLst>
      <p:ext uri="{BB962C8B-B14F-4D97-AF65-F5344CB8AC3E}">
        <p14:creationId xmlns:p14="http://schemas.microsoft.com/office/powerpoint/2010/main" val="354374196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endParaRPr lang="fr-FR" dirty="0">
              <a:solidFill>
                <a:prstClr val="white"/>
              </a:solidFill>
            </a:endParaRPr>
          </a:p>
        </p:txBody>
      </p:sp>
      <p:sp>
        <p:nvSpPr>
          <p:cNvPr id="5" name="Espace réservé du pied de page 4"/>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6" name="Espace réservé du numéro de diapositive 5"/>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Tree>
    <p:extLst>
      <p:ext uri="{BB962C8B-B14F-4D97-AF65-F5344CB8AC3E}">
        <p14:creationId xmlns:p14="http://schemas.microsoft.com/office/powerpoint/2010/main" val="367714395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endParaRPr lang="fr-FR" dirty="0">
              <a:solidFill>
                <a:prstClr val="white"/>
              </a:solidFill>
            </a:endParaRPr>
          </a:p>
        </p:txBody>
      </p:sp>
      <p:sp>
        <p:nvSpPr>
          <p:cNvPr id="5" name="Espace réservé du pied de page 4"/>
          <p:cNvSpPr>
            <a:spLocks noGrp="1"/>
          </p:cNvSpPr>
          <p:nvPr>
            <p:ph type="ftr" sz="quarter" idx="11"/>
          </p:nvPr>
        </p:nvSpPr>
        <p:spPr/>
        <p:txBody>
          <a:bodyPr/>
          <a:lstStyle/>
          <a:p>
            <a:r>
              <a:rPr lang="en-GB" smtClean="0">
                <a:solidFill>
                  <a:prstClr val="white"/>
                </a:solidFill>
              </a:rPr>
              <a:t>Teresa Ribera, Director IDDRI</a:t>
            </a:r>
            <a:endParaRPr lang="fr-FR" dirty="0">
              <a:solidFill>
                <a:prstClr val="white"/>
              </a:solidFill>
            </a:endParaRPr>
          </a:p>
        </p:txBody>
      </p:sp>
      <p:sp>
        <p:nvSpPr>
          <p:cNvPr id="6" name="Espace réservé du numéro de diapositive 5"/>
          <p:cNvSpPr>
            <a:spLocks noGrp="1"/>
          </p:cNvSpPr>
          <p:nvPr>
            <p:ph type="sldNum" sz="quarter" idx="12"/>
          </p:nvPr>
        </p:nvSpPr>
        <p:spPr/>
        <p:txBody>
          <a:bodyPr/>
          <a:lstStyle/>
          <a:p>
            <a:fld id="{B50B0FE4-844E-4121-A743-A2D891DBE779}" type="slidenum">
              <a:rPr lang="fr-FR" smtClean="0">
                <a:solidFill>
                  <a:prstClr val="white"/>
                </a:solidFill>
              </a:rPr>
              <a:pPr/>
              <a:t>‹#›</a:t>
            </a:fld>
            <a:endParaRPr lang="fr-FR" dirty="0">
              <a:solidFill>
                <a:prstClr val="white"/>
              </a:solidFill>
            </a:endParaRPr>
          </a:p>
        </p:txBody>
      </p:sp>
    </p:spTree>
    <p:extLst>
      <p:ext uri="{BB962C8B-B14F-4D97-AF65-F5344CB8AC3E}">
        <p14:creationId xmlns:p14="http://schemas.microsoft.com/office/powerpoint/2010/main" val="2106538301"/>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theme" Target="../theme/theme2.xml"/><Relationship Id="rId12" Type="http://schemas.openxmlformats.org/officeDocument/2006/relationships/image" Target="../media/image1.jpeg"/><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2.xml"/><Relationship Id="rId12" Type="http://schemas.openxmlformats.org/officeDocument/2006/relationships/theme" Target="../theme/theme3.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3.xml"/><Relationship Id="rId12" Type="http://schemas.openxmlformats.org/officeDocument/2006/relationships/theme" Target="../theme/theme4.xml"/><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 Id="rId9" Type="http://schemas.openxmlformats.org/officeDocument/2006/relationships/slideLayout" Target="../slideLayouts/slideLayout41.xml"/><Relationship Id="rId10"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4.xml"/><Relationship Id="rId12" Type="http://schemas.openxmlformats.org/officeDocument/2006/relationships/theme" Target="../theme/theme5.xml"/><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 Id="rId9" Type="http://schemas.openxmlformats.org/officeDocument/2006/relationships/slideLayout" Target="../slideLayouts/slideLayout52.xml"/><Relationship Id="rId10"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ext Box 21"/>
          <p:cNvSpPr txBox="1">
            <a:spLocks noChangeArrowheads="1"/>
          </p:cNvSpPr>
          <p:nvPr/>
        </p:nvSpPr>
        <p:spPr bwMode="auto">
          <a:xfrm>
            <a:off x="0" y="6624638"/>
            <a:ext cx="9144000" cy="260350"/>
          </a:xfrm>
          <a:prstGeom prst="rect">
            <a:avLst/>
          </a:prstGeom>
          <a:gradFill rotWithShape="1">
            <a:gsLst>
              <a:gs pos="0">
                <a:schemeClr val="bg1"/>
              </a:gs>
              <a:gs pos="100000">
                <a:srgbClr val="990033"/>
              </a:gs>
            </a:gsLst>
            <a:lin ang="0" scaled="1"/>
          </a:gradFill>
          <a:ln>
            <a:noFill/>
          </a:ln>
          <a:extLst/>
        </p:spPr>
        <p:txBody>
          <a:bodyPr anchor="ctr"/>
          <a:lstStyle>
            <a:lvl1pPr eaLnBrk="0" hangingPunct="0">
              <a:defRPr sz="2400" b="1">
                <a:solidFill>
                  <a:schemeClr val="tx1"/>
                </a:solidFill>
                <a:latin typeface="Arial" charset="0"/>
                <a:cs typeface="Arial" charset="0"/>
              </a:defRPr>
            </a:lvl1pPr>
            <a:lvl2pPr marL="37931725" indent="-37474525" eaLnBrk="0" hangingPunct="0">
              <a:defRPr sz="2400" b="1">
                <a:solidFill>
                  <a:schemeClr val="tx1"/>
                </a:solidFill>
                <a:latin typeface="Arial" charset="0"/>
                <a:cs typeface="Arial" charset="0"/>
              </a:defRPr>
            </a:lvl2pPr>
            <a:lvl3pPr eaLnBrk="0" hangingPunct="0">
              <a:defRPr sz="2400" b="1">
                <a:solidFill>
                  <a:schemeClr val="tx1"/>
                </a:solidFill>
                <a:latin typeface="Arial" charset="0"/>
                <a:cs typeface="Arial" charset="0"/>
              </a:defRPr>
            </a:lvl3pPr>
            <a:lvl4pPr eaLnBrk="0" hangingPunct="0">
              <a:defRPr sz="2400" b="1">
                <a:solidFill>
                  <a:schemeClr val="tx1"/>
                </a:solidFill>
                <a:latin typeface="Arial" charset="0"/>
                <a:cs typeface="Arial" charset="0"/>
              </a:defRPr>
            </a:lvl4pPr>
            <a:lvl5pPr eaLnBrk="0" hangingPunct="0">
              <a:defRPr sz="2400" b="1">
                <a:solidFill>
                  <a:schemeClr val="tx1"/>
                </a:solidFill>
                <a:latin typeface="Arial" charset="0"/>
                <a:cs typeface="Arial" charset="0"/>
              </a:defRPr>
            </a:lvl5pPr>
            <a:lvl6pPr marL="457200" eaLnBrk="0" fontAlgn="base" hangingPunct="0">
              <a:spcBef>
                <a:spcPct val="0"/>
              </a:spcBef>
              <a:spcAft>
                <a:spcPct val="0"/>
              </a:spcAft>
              <a:defRPr sz="2400" b="1">
                <a:solidFill>
                  <a:schemeClr val="tx1"/>
                </a:solidFill>
                <a:latin typeface="Arial" charset="0"/>
                <a:cs typeface="Arial" charset="0"/>
              </a:defRPr>
            </a:lvl6pPr>
            <a:lvl7pPr marL="914400" eaLnBrk="0" fontAlgn="base" hangingPunct="0">
              <a:spcBef>
                <a:spcPct val="0"/>
              </a:spcBef>
              <a:spcAft>
                <a:spcPct val="0"/>
              </a:spcAft>
              <a:defRPr sz="2400" b="1">
                <a:solidFill>
                  <a:schemeClr val="tx1"/>
                </a:solidFill>
                <a:latin typeface="Arial" charset="0"/>
                <a:cs typeface="Arial" charset="0"/>
              </a:defRPr>
            </a:lvl7pPr>
            <a:lvl8pPr marL="1371600" eaLnBrk="0" fontAlgn="base" hangingPunct="0">
              <a:spcBef>
                <a:spcPct val="0"/>
              </a:spcBef>
              <a:spcAft>
                <a:spcPct val="0"/>
              </a:spcAft>
              <a:defRPr sz="2400" b="1">
                <a:solidFill>
                  <a:schemeClr val="tx1"/>
                </a:solidFill>
                <a:latin typeface="Arial" charset="0"/>
                <a:cs typeface="Arial" charset="0"/>
              </a:defRPr>
            </a:lvl8pPr>
            <a:lvl9pPr marL="1828800" eaLnBrk="0" fontAlgn="base" hangingPunct="0">
              <a:spcBef>
                <a:spcPct val="0"/>
              </a:spcBef>
              <a:spcAft>
                <a:spcPct val="0"/>
              </a:spcAft>
              <a:defRPr sz="2400" b="1">
                <a:solidFill>
                  <a:schemeClr val="tx1"/>
                </a:solidFill>
                <a:latin typeface="Arial" charset="0"/>
                <a:cs typeface="Arial" charset="0"/>
              </a:defRPr>
            </a:lvl9pPr>
          </a:lstStyle>
          <a:p>
            <a:pPr algn="r" eaLnBrk="1" hangingPunct="1">
              <a:lnSpc>
                <a:spcPct val="50000"/>
              </a:lnSpc>
              <a:spcBef>
                <a:spcPct val="50000"/>
              </a:spcBef>
              <a:defRPr/>
            </a:pPr>
            <a:fld id="{B52FA693-A2BB-4439-B9B0-D7F153EDC035}" type="slidenum">
              <a:rPr lang="es-VE" sz="800" b="0" smtClean="0">
                <a:solidFill>
                  <a:schemeClr val="bg1"/>
                </a:solidFill>
              </a:rPr>
              <a:pPr algn="r" eaLnBrk="1" hangingPunct="1">
                <a:lnSpc>
                  <a:spcPct val="50000"/>
                </a:lnSpc>
                <a:spcBef>
                  <a:spcPct val="50000"/>
                </a:spcBef>
                <a:defRPr/>
              </a:pPr>
              <a:t>‹#›</a:t>
            </a:fld>
            <a:endParaRPr lang="es-VE" sz="800" b="0" dirty="0" smtClean="0">
              <a:solidFill>
                <a:schemeClr val="bg1"/>
              </a:solidFill>
            </a:endParaRPr>
          </a:p>
        </p:txBody>
      </p:sp>
      <p:pic>
        <p:nvPicPr>
          <p:cNvPr id="1027" name="Picture 22" descr="LogoIDDRICouleur"/>
          <p:cNvPicPr>
            <a:picLocks noChangeAspect="1" noChangeArrowheads="1"/>
          </p:cNvPicPr>
          <p:nvPr/>
        </p:nvPicPr>
        <p:blipFill>
          <a:blip r:embed="rId13" cstate="print"/>
          <a:srcRect b="23161"/>
          <a:stretch>
            <a:fillRect/>
          </a:stretch>
        </p:blipFill>
        <p:spPr bwMode="auto">
          <a:xfrm>
            <a:off x="36513" y="6524625"/>
            <a:ext cx="431800" cy="331788"/>
          </a:xfrm>
          <a:prstGeom prst="rect">
            <a:avLst/>
          </a:prstGeom>
          <a:noFill/>
          <a:ln w="9525">
            <a:noFill/>
            <a:miter lim="800000"/>
            <a:headEnd/>
            <a:tailEnd/>
          </a:ln>
        </p:spPr>
      </p:pic>
      <p:sp>
        <p:nvSpPr>
          <p:cNvPr id="1028" name="Rectangle 23"/>
          <p:cNvSpPr>
            <a:spLocks noGrp="1" noChangeArrowheads="1"/>
          </p:cNvSpPr>
          <p:nvPr>
            <p:ph type="title"/>
          </p:nvPr>
        </p:nvSpPr>
        <p:spPr bwMode="auto">
          <a:xfrm>
            <a:off x="250825" y="346075"/>
            <a:ext cx="8642350" cy="850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fr-FR" smtClean="0"/>
              <a:t>Cliquez pour modifier le style du titre</a:t>
            </a:r>
          </a:p>
        </p:txBody>
      </p:sp>
      <p:sp>
        <p:nvSpPr>
          <p:cNvPr id="1029" name="Rectangle 24"/>
          <p:cNvSpPr>
            <a:spLocks noGrp="1" noChangeArrowheads="1"/>
          </p:cNvSpPr>
          <p:nvPr>
            <p:ph type="body" idx="1"/>
          </p:nvPr>
        </p:nvSpPr>
        <p:spPr bwMode="auto">
          <a:xfrm>
            <a:off x="250825" y="1557338"/>
            <a:ext cx="8642350" cy="4824412"/>
          </a:xfrm>
          <a:prstGeom prst="rect">
            <a:avLst/>
          </a:prstGeom>
          <a:noFill/>
          <a:ln w="9525">
            <a:noFill/>
            <a:miter lim="800000"/>
            <a:headEnd/>
            <a:tailEnd/>
          </a:ln>
        </p:spPr>
        <p:txBody>
          <a:bodyPr vert="horz" wrap="square" lIns="126000" tIns="45720" rIns="126000" bIns="45720" numCol="1" anchor="t" anchorCtr="0" compatLnSpc="1">
            <a:prstTxWarp prst="textNoShape">
              <a:avLst/>
            </a:prstTxWarp>
          </a:bodyPr>
          <a:lstStyle/>
          <a:p>
            <a:pPr lvl="1"/>
            <a:r>
              <a:rPr lang="fr-FR" smtClean="0"/>
              <a:t>Premier niveau</a:t>
            </a:r>
          </a:p>
          <a:p>
            <a:pPr lvl="2"/>
            <a:r>
              <a:rPr lang="fr-FR" smtClean="0"/>
              <a:t>Deuxième niveau</a:t>
            </a:r>
          </a:p>
          <a:p>
            <a:pPr lvl="3"/>
            <a:r>
              <a:rPr lang="fr-FR" smtClean="0"/>
              <a:t>Troisième niveau</a:t>
            </a:r>
          </a:p>
          <a:p>
            <a:pPr lvl="4"/>
            <a:r>
              <a:rPr lang="fr-FR" smtClean="0"/>
              <a:t>Quatrième niveau</a:t>
            </a:r>
          </a:p>
        </p:txBody>
      </p:sp>
      <p:sp>
        <p:nvSpPr>
          <p:cNvPr id="1030" name="Line 25"/>
          <p:cNvSpPr>
            <a:spLocks noChangeShapeType="1"/>
          </p:cNvSpPr>
          <p:nvPr/>
        </p:nvSpPr>
        <p:spPr bwMode="auto">
          <a:xfrm>
            <a:off x="107950" y="1268413"/>
            <a:ext cx="8858250" cy="0"/>
          </a:xfrm>
          <a:prstGeom prst="line">
            <a:avLst/>
          </a:prstGeom>
          <a:noFill/>
          <a:ln w="34925">
            <a:solidFill>
              <a:srgbClr val="A50021"/>
            </a:solidFill>
            <a:round/>
            <a:headEnd/>
            <a:tailEnd/>
          </a:ln>
        </p:spPr>
        <p:txBody>
          <a:bodyPr/>
          <a:lstStyle/>
          <a:p>
            <a:pPr>
              <a:defRPr/>
            </a:pPr>
            <a:endParaRPr lang="fr-FR" dirty="0">
              <a:latin typeface="Arial" charset="0"/>
              <a:cs typeface="Arial" charset="0"/>
            </a:endParaRPr>
          </a:p>
        </p:txBody>
      </p:sp>
      <p:sp>
        <p:nvSpPr>
          <p:cNvPr id="1031" name="Line 27"/>
          <p:cNvSpPr>
            <a:spLocks noChangeShapeType="1"/>
          </p:cNvSpPr>
          <p:nvPr/>
        </p:nvSpPr>
        <p:spPr bwMode="auto">
          <a:xfrm>
            <a:off x="107950" y="1268413"/>
            <a:ext cx="8858250" cy="0"/>
          </a:xfrm>
          <a:prstGeom prst="line">
            <a:avLst/>
          </a:prstGeom>
          <a:noFill/>
          <a:ln w="34925">
            <a:solidFill>
              <a:srgbClr val="A50021"/>
            </a:solidFill>
            <a:round/>
            <a:headEnd/>
            <a:tailEnd/>
          </a:ln>
        </p:spPr>
        <p:txBody>
          <a:bodyPr/>
          <a:lstStyle/>
          <a:p>
            <a:pPr>
              <a:defRPr/>
            </a:pPr>
            <a:endParaRPr lang="fr-FR" dirty="0">
              <a:latin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xmlns:p14="http://schemas.microsoft.com/office/powerpoint/2010/main" id="1" dur="indefinite" restart="never" nodeType="tmRoot"/>
      </p:par>
    </p:tnLst>
  </p:timing>
  <p:hf sldNum="0" hdr="0" dt="0"/>
  <p:txStyles>
    <p:titleStyle>
      <a:lvl1pPr algn="l" rtl="0" eaLnBrk="0" fontAlgn="base" hangingPunct="0">
        <a:spcBef>
          <a:spcPct val="0"/>
        </a:spcBef>
        <a:spcAft>
          <a:spcPct val="0"/>
        </a:spcAft>
        <a:defRPr sz="2400" b="1">
          <a:solidFill>
            <a:srgbClr val="990033"/>
          </a:solidFill>
          <a:latin typeface="+mj-lt"/>
          <a:ea typeface="ＭＳ Ｐゴシック" charset="-128"/>
          <a:cs typeface="ＭＳ Ｐゴシック" charset="-128"/>
        </a:defRPr>
      </a:lvl1pPr>
      <a:lvl2pPr algn="l" rtl="0" eaLnBrk="0" fontAlgn="base" hangingPunct="0">
        <a:spcBef>
          <a:spcPct val="0"/>
        </a:spcBef>
        <a:spcAft>
          <a:spcPct val="0"/>
        </a:spcAft>
        <a:defRPr sz="2400" b="1">
          <a:solidFill>
            <a:srgbClr val="990033"/>
          </a:solidFill>
          <a:latin typeface="Arial" charset="0"/>
          <a:ea typeface="ＭＳ Ｐゴシック" charset="-128"/>
          <a:cs typeface="ＭＳ Ｐゴシック" charset="-128"/>
        </a:defRPr>
      </a:lvl2pPr>
      <a:lvl3pPr algn="l" rtl="0" eaLnBrk="0" fontAlgn="base" hangingPunct="0">
        <a:spcBef>
          <a:spcPct val="0"/>
        </a:spcBef>
        <a:spcAft>
          <a:spcPct val="0"/>
        </a:spcAft>
        <a:defRPr sz="2400" b="1">
          <a:solidFill>
            <a:srgbClr val="990033"/>
          </a:solidFill>
          <a:latin typeface="Arial" charset="0"/>
          <a:ea typeface="ＭＳ Ｐゴシック" charset="-128"/>
          <a:cs typeface="ＭＳ Ｐゴシック" charset="-128"/>
        </a:defRPr>
      </a:lvl3pPr>
      <a:lvl4pPr algn="l" rtl="0" eaLnBrk="0" fontAlgn="base" hangingPunct="0">
        <a:spcBef>
          <a:spcPct val="0"/>
        </a:spcBef>
        <a:spcAft>
          <a:spcPct val="0"/>
        </a:spcAft>
        <a:defRPr sz="2400" b="1">
          <a:solidFill>
            <a:srgbClr val="990033"/>
          </a:solidFill>
          <a:latin typeface="Arial" charset="0"/>
          <a:ea typeface="ＭＳ Ｐゴシック" charset="-128"/>
          <a:cs typeface="ＭＳ Ｐゴシック" charset="-128"/>
        </a:defRPr>
      </a:lvl4pPr>
      <a:lvl5pPr algn="l" rtl="0" eaLnBrk="0" fontAlgn="base" hangingPunct="0">
        <a:spcBef>
          <a:spcPct val="0"/>
        </a:spcBef>
        <a:spcAft>
          <a:spcPct val="0"/>
        </a:spcAft>
        <a:defRPr sz="2400" b="1">
          <a:solidFill>
            <a:srgbClr val="990033"/>
          </a:solidFill>
          <a:latin typeface="Arial" charset="0"/>
          <a:ea typeface="ＭＳ Ｐゴシック" charset="-128"/>
          <a:cs typeface="ＭＳ Ｐゴシック" charset="-128"/>
        </a:defRPr>
      </a:lvl5pPr>
      <a:lvl6pPr marL="457200" algn="l" rtl="0" fontAlgn="base">
        <a:spcBef>
          <a:spcPct val="0"/>
        </a:spcBef>
        <a:spcAft>
          <a:spcPct val="0"/>
        </a:spcAft>
        <a:defRPr sz="2400" b="1">
          <a:solidFill>
            <a:srgbClr val="990033"/>
          </a:solidFill>
          <a:latin typeface="Arial" charset="0"/>
        </a:defRPr>
      </a:lvl6pPr>
      <a:lvl7pPr marL="914400" algn="l" rtl="0" fontAlgn="base">
        <a:spcBef>
          <a:spcPct val="0"/>
        </a:spcBef>
        <a:spcAft>
          <a:spcPct val="0"/>
        </a:spcAft>
        <a:defRPr sz="2400" b="1">
          <a:solidFill>
            <a:srgbClr val="990033"/>
          </a:solidFill>
          <a:latin typeface="Arial" charset="0"/>
        </a:defRPr>
      </a:lvl7pPr>
      <a:lvl8pPr marL="1371600" algn="l" rtl="0" fontAlgn="base">
        <a:spcBef>
          <a:spcPct val="0"/>
        </a:spcBef>
        <a:spcAft>
          <a:spcPct val="0"/>
        </a:spcAft>
        <a:defRPr sz="2400" b="1">
          <a:solidFill>
            <a:srgbClr val="990033"/>
          </a:solidFill>
          <a:latin typeface="Arial" charset="0"/>
        </a:defRPr>
      </a:lvl8pPr>
      <a:lvl9pPr marL="1828800" algn="l" rtl="0" fontAlgn="base">
        <a:spcBef>
          <a:spcPct val="0"/>
        </a:spcBef>
        <a:spcAft>
          <a:spcPct val="0"/>
        </a:spcAft>
        <a:defRPr sz="2400" b="1">
          <a:solidFill>
            <a:srgbClr val="990033"/>
          </a:solidFill>
          <a:latin typeface="Arial" charset="0"/>
        </a:defRPr>
      </a:lvl9pPr>
    </p:titleStyle>
    <p:bodyStyle>
      <a:lvl1pPr marL="342900" indent="-342900" algn="l" rtl="0" eaLnBrk="0" fontAlgn="base" hangingPunct="0">
        <a:spcBef>
          <a:spcPct val="20000"/>
        </a:spcBef>
        <a:spcAft>
          <a:spcPct val="0"/>
        </a:spcAft>
        <a:defRPr sz="2000">
          <a:solidFill>
            <a:schemeClr val="tx1"/>
          </a:solidFill>
          <a:latin typeface="Book Antiqua" pitchFamily="18" charset="0"/>
          <a:ea typeface="ＭＳ Ｐゴシック" charset="-128"/>
          <a:cs typeface="ＭＳ Ｐゴシック" charset="-128"/>
        </a:defRPr>
      </a:lvl1pPr>
      <a:lvl2pPr marL="539750" indent="-273050" algn="l" rtl="0" eaLnBrk="0" fontAlgn="base" hangingPunct="0">
        <a:spcBef>
          <a:spcPct val="20000"/>
        </a:spcBef>
        <a:spcAft>
          <a:spcPct val="0"/>
        </a:spcAft>
        <a:buClr>
          <a:srgbClr val="A50021"/>
        </a:buClr>
        <a:buChar char="•"/>
        <a:defRPr sz="2000">
          <a:solidFill>
            <a:schemeClr val="tx1"/>
          </a:solidFill>
          <a:latin typeface="Book Antiqua" pitchFamily="18" charset="0"/>
          <a:ea typeface="ＭＳ Ｐゴシック" charset="-128"/>
        </a:defRPr>
      </a:lvl2pPr>
      <a:lvl3pPr marL="1071563" indent="-265113" algn="l" rtl="0" eaLnBrk="0" fontAlgn="base" hangingPunct="0">
        <a:spcBef>
          <a:spcPct val="20000"/>
        </a:spcBef>
        <a:spcAft>
          <a:spcPct val="0"/>
        </a:spcAft>
        <a:buFont typeface="Arial" pitchFamily="34" charset="0"/>
        <a:buChar char="–"/>
        <a:defRPr>
          <a:solidFill>
            <a:schemeClr val="tx1"/>
          </a:solidFill>
          <a:latin typeface="Book Antiqua" pitchFamily="18" charset="0"/>
          <a:ea typeface="ＭＳ Ｐゴシック" charset="-128"/>
        </a:defRPr>
      </a:lvl3pPr>
      <a:lvl4pPr marL="1600200" indent="-228600" algn="l" rtl="0" eaLnBrk="0" fontAlgn="base" hangingPunct="0">
        <a:spcBef>
          <a:spcPct val="20000"/>
        </a:spcBef>
        <a:spcAft>
          <a:spcPct val="0"/>
        </a:spcAft>
        <a:buFont typeface="Arial" pitchFamily="34" charset="0"/>
        <a:buChar char="→"/>
        <a:defRPr sz="1600">
          <a:solidFill>
            <a:schemeClr val="tx1"/>
          </a:solidFill>
          <a:latin typeface="Book Antiqua" pitchFamily="18" charset="0"/>
          <a:ea typeface="ＭＳ Ｐゴシック" charset="-128"/>
        </a:defRPr>
      </a:lvl4pPr>
      <a:lvl5pPr marL="2057400" indent="-228600" algn="l" rtl="0" eaLnBrk="0" fontAlgn="base" hangingPunct="0">
        <a:spcBef>
          <a:spcPct val="20000"/>
        </a:spcBef>
        <a:spcAft>
          <a:spcPct val="0"/>
        </a:spcAft>
        <a:buChar char="»"/>
        <a:defRPr sz="1400">
          <a:solidFill>
            <a:schemeClr val="tx1"/>
          </a:solidFill>
          <a:latin typeface="Book Antiqua" pitchFamily="18" charset="0"/>
          <a:ea typeface="ＭＳ Ｐゴシック" charset="-128"/>
        </a:defRPr>
      </a:lvl5pPr>
      <a:lvl6pPr marL="2514600" indent="-228600" algn="l" rtl="0" fontAlgn="base">
        <a:spcBef>
          <a:spcPct val="20000"/>
        </a:spcBef>
        <a:spcAft>
          <a:spcPct val="0"/>
        </a:spcAft>
        <a:buChar char="»"/>
        <a:defRPr sz="1400">
          <a:solidFill>
            <a:schemeClr val="tx1"/>
          </a:solidFill>
          <a:latin typeface="+mn-lt"/>
        </a:defRPr>
      </a:lvl6pPr>
      <a:lvl7pPr marL="2971800" indent="-228600" algn="l" rtl="0" fontAlgn="base">
        <a:spcBef>
          <a:spcPct val="20000"/>
        </a:spcBef>
        <a:spcAft>
          <a:spcPct val="0"/>
        </a:spcAft>
        <a:buChar char="»"/>
        <a:defRPr sz="1400">
          <a:solidFill>
            <a:schemeClr val="tx1"/>
          </a:solidFill>
          <a:latin typeface="+mn-lt"/>
        </a:defRPr>
      </a:lvl7pPr>
      <a:lvl8pPr marL="3429000" indent="-228600" algn="l" rtl="0" fontAlgn="base">
        <a:spcBef>
          <a:spcPct val="20000"/>
        </a:spcBef>
        <a:spcAft>
          <a:spcPct val="0"/>
        </a:spcAft>
        <a:buChar char="»"/>
        <a:defRPr sz="1400">
          <a:solidFill>
            <a:schemeClr val="tx1"/>
          </a:solidFill>
          <a:latin typeface="+mn-lt"/>
        </a:defRPr>
      </a:lvl8pPr>
      <a:lvl9pPr marL="3886200" indent="-228600" algn="l" rtl="0" fontAlgn="base">
        <a:spcBef>
          <a:spcPct val="20000"/>
        </a:spcBef>
        <a:spcAft>
          <a:spcPct val="0"/>
        </a:spcAft>
        <a:buChar char="»"/>
        <a:defRPr sz="14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8" descr="LogoIDDRICouleur"/>
          <p:cNvPicPr>
            <a:picLocks noChangeAspect="1" noChangeArrowheads="1"/>
          </p:cNvPicPr>
          <p:nvPr/>
        </p:nvPicPr>
        <p:blipFill>
          <a:blip r:embed="rId12" cstate="print"/>
          <a:srcRect/>
          <a:stretch>
            <a:fillRect/>
          </a:stretch>
        </p:blipFill>
        <p:spPr bwMode="auto">
          <a:xfrm>
            <a:off x="3563938" y="1628775"/>
            <a:ext cx="1800225" cy="1800225"/>
          </a:xfrm>
          <a:prstGeom prst="rect">
            <a:avLst/>
          </a:prstGeom>
          <a:noFill/>
          <a:ln w="6350">
            <a:noFill/>
            <a:miter lim="800000"/>
            <a:headEnd/>
            <a:tailEnd/>
          </a:ln>
        </p:spPr>
      </p:pic>
      <p:sp>
        <p:nvSpPr>
          <p:cNvPr id="2051" name="Text Box 9"/>
          <p:cNvSpPr txBox="1">
            <a:spLocks noChangeArrowheads="1"/>
          </p:cNvSpPr>
          <p:nvPr/>
        </p:nvSpPr>
        <p:spPr bwMode="auto">
          <a:xfrm>
            <a:off x="0" y="3767138"/>
            <a:ext cx="9144000" cy="1758950"/>
          </a:xfrm>
          <a:prstGeom prst="rect">
            <a:avLst/>
          </a:prstGeom>
          <a:noFill/>
          <a:ln>
            <a:noFill/>
          </a:ln>
          <a:extLst/>
        </p:spPr>
        <p:txBody>
          <a:bodyPr>
            <a:spAutoFit/>
          </a:bodyPr>
          <a:lstStyle>
            <a:lvl1pPr marL="342900" indent="-342900" eaLnBrk="0" hangingPunct="0">
              <a:defRPr sz="2400" b="1">
                <a:solidFill>
                  <a:schemeClr val="tx1"/>
                </a:solidFill>
                <a:latin typeface="Arial" charset="0"/>
                <a:cs typeface="Arial" charset="0"/>
              </a:defRPr>
            </a:lvl1pPr>
            <a:lvl2pPr marL="37931725" indent="-37474525" eaLnBrk="0" hangingPunct="0">
              <a:defRPr sz="2400" b="1">
                <a:solidFill>
                  <a:schemeClr val="tx1"/>
                </a:solidFill>
                <a:latin typeface="Arial" charset="0"/>
                <a:cs typeface="Arial" charset="0"/>
              </a:defRPr>
            </a:lvl2pPr>
            <a:lvl3pPr eaLnBrk="0" hangingPunct="0">
              <a:defRPr sz="2400" b="1">
                <a:solidFill>
                  <a:schemeClr val="tx1"/>
                </a:solidFill>
                <a:latin typeface="Arial" charset="0"/>
                <a:cs typeface="Arial" charset="0"/>
              </a:defRPr>
            </a:lvl3pPr>
            <a:lvl4pPr eaLnBrk="0" hangingPunct="0">
              <a:defRPr sz="2400" b="1">
                <a:solidFill>
                  <a:schemeClr val="tx1"/>
                </a:solidFill>
                <a:latin typeface="Arial" charset="0"/>
                <a:cs typeface="Arial" charset="0"/>
              </a:defRPr>
            </a:lvl4pPr>
            <a:lvl5pPr eaLnBrk="0" hangingPunct="0">
              <a:defRPr sz="2400" b="1">
                <a:solidFill>
                  <a:schemeClr val="tx1"/>
                </a:solidFill>
                <a:latin typeface="Arial" charset="0"/>
                <a:cs typeface="Arial" charset="0"/>
              </a:defRPr>
            </a:lvl5pPr>
            <a:lvl6pPr marL="457200" eaLnBrk="0" fontAlgn="base" hangingPunct="0">
              <a:spcBef>
                <a:spcPct val="0"/>
              </a:spcBef>
              <a:spcAft>
                <a:spcPct val="0"/>
              </a:spcAft>
              <a:defRPr sz="2400" b="1">
                <a:solidFill>
                  <a:schemeClr val="tx1"/>
                </a:solidFill>
                <a:latin typeface="Arial" charset="0"/>
                <a:cs typeface="Arial" charset="0"/>
              </a:defRPr>
            </a:lvl6pPr>
            <a:lvl7pPr marL="914400" eaLnBrk="0" fontAlgn="base" hangingPunct="0">
              <a:spcBef>
                <a:spcPct val="0"/>
              </a:spcBef>
              <a:spcAft>
                <a:spcPct val="0"/>
              </a:spcAft>
              <a:defRPr sz="2400" b="1">
                <a:solidFill>
                  <a:schemeClr val="tx1"/>
                </a:solidFill>
                <a:latin typeface="Arial" charset="0"/>
                <a:cs typeface="Arial" charset="0"/>
              </a:defRPr>
            </a:lvl7pPr>
            <a:lvl8pPr marL="1371600" eaLnBrk="0" fontAlgn="base" hangingPunct="0">
              <a:spcBef>
                <a:spcPct val="0"/>
              </a:spcBef>
              <a:spcAft>
                <a:spcPct val="0"/>
              </a:spcAft>
              <a:defRPr sz="2400" b="1">
                <a:solidFill>
                  <a:schemeClr val="tx1"/>
                </a:solidFill>
                <a:latin typeface="Arial" charset="0"/>
                <a:cs typeface="Arial" charset="0"/>
              </a:defRPr>
            </a:lvl8pPr>
            <a:lvl9pPr marL="1828800" eaLnBrk="0" fontAlgn="base" hangingPunct="0">
              <a:spcBef>
                <a:spcPct val="0"/>
              </a:spcBef>
              <a:spcAft>
                <a:spcPct val="0"/>
              </a:spcAft>
              <a:defRPr sz="2400" b="1">
                <a:solidFill>
                  <a:schemeClr val="tx1"/>
                </a:solidFill>
                <a:latin typeface="Arial" charset="0"/>
                <a:cs typeface="Arial" charset="0"/>
              </a:defRPr>
            </a:lvl9pPr>
          </a:lstStyle>
          <a:p>
            <a:pPr algn="ctr" eaLnBrk="1" hangingPunct="1">
              <a:lnSpc>
                <a:spcPct val="90000"/>
              </a:lnSpc>
              <a:defRPr/>
            </a:pPr>
            <a:r>
              <a:rPr lang="fr-FR" sz="1600" dirty="0" smtClean="0">
                <a:latin typeface="Helvetica" charset="0"/>
              </a:rPr>
              <a:t>Institut du développement durable et des relations internationales</a:t>
            </a:r>
          </a:p>
          <a:p>
            <a:pPr algn="ctr" eaLnBrk="1" hangingPunct="1">
              <a:lnSpc>
                <a:spcPct val="90000"/>
              </a:lnSpc>
              <a:defRPr/>
            </a:pPr>
            <a:r>
              <a:rPr lang="fr-FR" sz="1600" b="0" dirty="0" smtClean="0">
                <a:latin typeface="Helvetica" charset="0"/>
              </a:rPr>
              <a:t>Sciences Po</a:t>
            </a:r>
          </a:p>
          <a:p>
            <a:pPr algn="ctr" eaLnBrk="1" hangingPunct="1">
              <a:lnSpc>
                <a:spcPct val="90000"/>
              </a:lnSpc>
              <a:defRPr/>
            </a:pPr>
            <a:r>
              <a:rPr lang="fr-FR" sz="1600" b="0" dirty="0" smtClean="0">
                <a:latin typeface="Helvetica" charset="0"/>
              </a:rPr>
              <a:t>41, rue du Four– 75006 Paris (France)</a:t>
            </a:r>
          </a:p>
          <a:p>
            <a:pPr algn="ctr" eaLnBrk="1" hangingPunct="1">
              <a:lnSpc>
                <a:spcPct val="90000"/>
              </a:lnSpc>
              <a:defRPr/>
            </a:pPr>
            <a:endParaRPr lang="fr-FR" sz="1600" b="0" dirty="0" smtClean="0">
              <a:latin typeface="Helvetica" charset="0"/>
            </a:endParaRPr>
          </a:p>
          <a:p>
            <a:pPr algn="ctr" eaLnBrk="1" hangingPunct="1">
              <a:lnSpc>
                <a:spcPct val="90000"/>
              </a:lnSpc>
              <a:defRPr/>
            </a:pPr>
            <a:endParaRPr lang="fr-FR" sz="1600" b="0" dirty="0" smtClean="0">
              <a:latin typeface="Helvetica" charset="0"/>
            </a:endParaRPr>
          </a:p>
          <a:p>
            <a:pPr algn="ctr" eaLnBrk="1" hangingPunct="1">
              <a:lnSpc>
                <a:spcPct val="90000"/>
              </a:lnSpc>
              <a:spcBef>
                <a:spcPct val="50000"/>
              </a:spcBef>
              <a:defRPr/>
            </a:pPr>
            <a:r>
              <a:rPr lang="fr-FR" sz="1600" dirty="0" err="1" smtClean="0">
                <a:latin typeface="Helvetica" charset="0"/>
              </a:rPr>
              <a:t>Celine</a:t>
            </a:r>
            <a:r>
              <a:rPr lang="fr-FR" sz="1600" dirty="0" smtClean="0">
                <a:latin typeface="Helvetica" charset="0"/>
              </a:rPr>
              <a:t> MARCY </a:t>
            </a:r>
          </a:p>
          <a:p>
            <a:pPr algn="ctr" eaLnBrk="1" hangingPunct="1">
              <a:lnSpc>
                <a:spcPct val="90000"/>
              </a:lnSpc>
              <a:defRPr/>
            </a:pPr>
            <a:r>
              <a:rPr lang="fr-FR" sz="1600" b="0" dirty="0" smtClean="0">
                <a:latin typeface="Helvetica" charset="0"/>
              </a:rPr>
              <a:t>O1 45 49 76 80 – </a:t>
            </a:r>
            <a:r>
              <a:rPr lang="fr-FR" sz="1600" b="0" u="sng" dirty="0" smtClean="0">
                <a:latin typeface="Helvetica" charset="0"/>
              </a:rPr>
              <a:t>celine.marcy@iddri.org</a:t>
            </a:r>
          </a:p>
        </p:txBody>
      </p:sp>
      <p:sp>
        <p:nvSpPr>
          <p:cNvPr id="2052" name="Espace réservé du titre 1"/>
          <p:cNvSpPr>
            <a:spLocks noGrp="1"/>
          </p:cNvSpPr>
          <p:nvPr>
            <p:ph type="title"/>
          </p:nvPr>
        </p:nvSpPr>
        <p:spPr bwMode="auto">
          <a:xfrm>
            <a:off x="234950" y="981075"/>
            <a:ext cx="6994525" cy="4175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fr-FR" smtClean="0"/>
              <a:t>Thank you for your attention </a:t>
            </a:r>
          </a:p>
        </p:txBody>
      </p:sp>
      <p:sp>
        <p:nvSpPr>
          <p:cNvPr id="2053" name="Line 27"/>
          <p:cNvSpPr>
            <a:spLocks noChangeShapeType="1"/>
          </p:cNvSpPr>
          <p:nvPr userDrawn="1"/>
        </p:nvSpPr>
        <p:spPr bwMode="auto">
          <a:xfrm>
            <a:off x="107950" y="1481138"/>
            <a:ext cx="8858250" cy="0"/>
          </a:xfrm>
          <a:prstGeom prst="line">
            <a:avLst/>
          </a:prstGeom>
          <a:noFill/>
          <a:ln w="34925">
            <a:solidFill>
              <a:srgbClr val="A50021"/>
            </a:solidFill>
            <a:round/>
            <a:headEnd/>
            <a:tailEnd/>
          </a:ln>
        </p:spPr>
        <p:txBody>
          <a:bodyPr/>
          <a:lstStyle/>
          <a:p>
            <a:pPr>
              <a:defRPr/>
            </a:pPr>
            <a:endParaRPr lang="fr-FR">
              <a:latin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iming>
    <p:tnLst>
      <p:par>
        <p:cTn xmlns:p14="http://schemas.microsoft.com/office/powerpoint/2010/main" id="1" dur="indefinite" restart="never" nodeType="tmRoot"/>
      </p:par>
    </p:tnLst>
  </p:timing>
  <p:hf sldNum="0" hdr="0" dt="0"/>
  <p:txStyles>
    <p:titleStyle>
      <a:lvl1pPr algn="l" rtl="0" eaLnBrk="0" fontAlgn="base" hangingPunct="0">
        <a:spcBef>
          <a:spcPct val="0"/>
        </a:spcBef>
        <a:spcAft>
          <a:spcPct val="0"/>
        </a:spcAft>
        <a:defRPr sz="2400">
          <a:solidFill>
            <a:schemeClr val="tx2"/>
          </a:solidFill>
          <a:latin typeface="+mj-lt"/>
          <a:ea typeface="ＭＳ Ｐゴシック" charset="-128"/>
          <a:cs typeface="ＭＳ Ｐゴシック" charset="-128"/>
        </a:defRPr>
      </a:lvl1pPr>
      <a:lvl2pPr algn="l" rtl="0" eaLnBrk="0" fontAlgn="base" hangingPunct="0">
        <a:spcBef>
          <a:spcPct val="0"/>
        </a:spcBef>
        <a:spcAft>
          <a:spcPct val="0"/>
        </a:spcAft>
        <a:defRPr sz="2400">
          <a:solidFill>
            <a:schemeClr val="tx2"/>
          </a:solidFill>
          <a:latin typeface="Arial" charset="0"/>
          <a:ea typeface="ＭＳ Ｐゴシック" charset="-128"/>
          <a:cs typeface="ＭＳ Ｐゴシック" charset="-128"/>
        </a:defRPr>
      </a:lvl2pPr>
      <a:lvl3pPr algn="l" rtl="0" eaLnBrk="0" fontAlgn="base" hangingPunct="0">
        <a:spcBef>
          <a:spcPct val="0"/>
        </a:spcBef>
        <a:spcAft>
          <a:spcPct val="0"/>
        </a:spcAft>
        <a:defRPr sz="2400">
          <a:solidFill>
            <a:schemeClr val="tx2"/>
          </a:solidFill>
          <a:latin typeface="Arial" charset="0"/>
          <a:ea typeface="ＭＳ Ｐゴシック" charset="-128"/>
          <a:cs typeface="ＭＳ Ｐゴシック" charset="-128"/>
        </a:defRPr>
      </a:lvl3pPr>
      <a:lvl4pPr algn="l" rtl="0" eaLnBrk="0" fontAlgn="base" hangingPunct="0">
        <a:spcBef>
          <a:spcPct val="0"/>
        </a:spcBef>
        <a:spcAft>
          <a:spcPct val="0"/>
        </a:spcAft>
        <a:defRPr sz="2400">
          <a:solidFill>
            <a:schemeClr val="tx2"/>
          </a:solidFill>
          <a:latin typeface="Arial" charset="0"/>
          <a:ea typeface="ＭＳ Ｐゴシック" charset="-128"/>
          <a:cs typeface="ＭＳ Ｐゴシック" charset="-128"/>
        </a:defRPr>
      </a:lvl4pPr>
      <a:lvl5pPr algn="l" rtl="0" eaLnBrk="0" fontAlgn="base" hangingPunct="0">
        <a:spcBef>
          <a:spcPct val="0"/>
        </a:spcBef>
        <a:spcAft>
          <a:spcPct val="0"/>
        </a:spcAft>
        <a:defRPr sz="2400">
          <a:solidFill>
            <a:schemeClr val="tx2"/>
          </a:solidFill>
          <a:latin typeface="Arial" charset="0"/>
          <a:ea typeface="ＭＳ Ｐゴシック" charset="-128"/>
          <a:cs typeface="ＭＳ Ｐゴシック" charset="-128"/>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6524625"/>
            <a:ext cx="9144000" cy="333375"/>
          </a:xfrm>
          <a:prstGeom prst="rect">
            <a:avLst/>
          </a:prstGeom>
          <a:solidFill>
            <a:srgbClr val="990000"/>
          </a:solidFill>
          <a:ln>
            <a:noFill/>
          </a:ln>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endParaRPr lang="fr-FR">
              <a:solidFill>
                <a:prstClr val="white"/>
              </a:solidFill>
            </a:endParaRPr>
          </a:p>
        </p:txBody>
      </p:sp>
      <p:sp>
        <p:nvSpPr>
          <p:cNvPr id="3075" name="Espace réservé du titre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fr-FR" smtClean="0"/>
              <a:t>Modifiez le style du titre</a:t>
            </a:r>
          </a:p>
        </p:txBody>
      </p:sp>
      <p:sp>
        <p:nvSpPr>
          <p:cNvPr id="3076" name="Espace réservé du texte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p>
        </p:txBody>
      </p:sp>
      <p:sp>
        <p:nvSpPr>
          <p:cNvPr id="5" name="Espace réservé du pied de page 4"/>
          <p:cNvSpPr>
            <a:spLocks noGrp="1"/>
          </p:cNvSpPr>
          <p:nvPr>
            <p:ph type="ftr" sz="quarter" idx="3"/>
          </p:nvPr>
        </p:nvSpPr>
        <p:spPr>
          <a:xfrm>
            <a:off x="3124200" y="6492875"/>
            <a:ext cx="2895600" cy="365125"/>
          </a:xfrm>
          <a:prstGeom prst="rect">
            <a:avLst/>
          </a:prstGeom>
        </p:spPr>
        <p:txBody>
          <a:bodyPr vert="horz" lIns="91440" tIns="45720" rIns="91440" bIns="45720" rtlCol="0" anchor="ctr"/>
          <a:lstStyle>
            <a:lvl1pPr algn="ctr" fontAlgn="auto">
              <a:spcBef>
                <a:spcPts val="0"/>
              </a:spcBef>
              <a:spcAft>
                <a:spcPts val="0"/>
              </a:spcAft>
              <a:defRPr sz="1200" b="1">
                <a:solidFill>
                  <a:prstClr val="white"/>
                </a:solidFill>
                <a:latin typeface="Calibri"/>
                <a:cs typeface="+mn-cs"/>
              </a:defRPr>
            </a:lvl1pPr>
          </a:lstStyle>
          <a:p>
            <a:pPr>
              <a:defRPr/>
            </a:pPr>
            <a:r>
              <a:rPr lang="fr-FR" smtClean="0"/>
              <a:t>Teresa Ribera, Director IDDRI</a:t>
            </a:r>
            <a:endParaRPr lang="fr-FR" dirty="0"/>
          </a:p>
        </p:txBody>
      </p:sp>
      <p:sp>
        <p:nvSpPr>
          <p:cNvPr id="6" name="Espace réservé du numéro de diapositive 5"/>
          <p:cNvSpPr>
            <a:spLocks noGrp="1"/>
          </p:cNvSpPr>
          <p:nvPr>
            <p:ph type="sldNum" sz="quarter" idx="4"/>
          </p:nvPr>
        </p:nvSpPr>
        <p:spPr>
          <a:xfrm>
            <a:off x="8172450" y="6492875"/>
            <a:ext cx="549275" cy="365125"/>
          </a:xfrm>
          <a:prstGeom prst="rect">
            <a:avLst/>
          </a:prstGeom>
        </p:spPr>
        <p:txBody>
          <a:bodyPr vert="horz" lIns="91440" tIns="45720" rIns="91440" bIns="45720" rtlCol="0" anchor="ctr"/>
          <a:lstStyle>
            <a:lvl1pPr algn="r" fontAlgn="auto">
              <a:spcBef>
                <a:spcPts val="0"/>
              </a:spcBef>
              <a:spcAft>
                <a:spcPts val="0"/>
              </a:spcAft>
              <a:defRPr sz="1200" b="0">
                <a:solidFill>
                  <a:prstClr val="white"/>
                </a:solidFill>
                <a:latin typeface="Calibri"/>
                <a:cs typeface="+mn-cs"/>
              </a:defRPr>
            </a:lvl1pPr>
          </a:lstStyle>
          <a:p>
            <a:pPr>
              <a:defRPr/>
            </a:pPr>
            <a:fld id="{15640D1A-F174-4BDF-9F9D-AF59BE6C6D15}" type="slidenum">
              <a:rPr lang="fr-FR"/>
              <a:pPr>
                <a:defRPr/>
              </a:pPr>
              <a:t>‹#›</a:t>
            </a:fld>
            <a:endParaRPr lang="fr-FR"/>
          </a:p>
        </p:txBody>
      </p:sp>
      <p:sp>
        <p:nvSpPr>
          <p:cNvPr id="4" name="Espace réservé de la date 3"/>
          <p:cNvSpPr>
            <a:spLocks noGrp="1"/>
          </p:cNvSpPr>
          <p:nvPr>
            <p:ph type="dt" sz="half" idx="2"/>
          </p:nvPr>
        </p:nvSpPr>
        <p:spPr>
          <a:xfrm>
            <a:off x="468313" y="6492875"/>
            <a:ext cx="2133600" cy="365125"/>
          </a:xfrm>
          <a:prstGeom prst="rect">
            <a:avLst/>
          </a:prstGeom>
        </p:spPr>
        <p:txBody>
          <a:bodyPr vert="horz" lIns="91440" tIns="45720" rIns="91440" bIns="45720" rtlCol="0" anchor="ctr"/>
          <a:lstStyle>
            <a:lvl1pPr algn="l" fontAlgn="auto">
              <a:spcBef>
                <a:spcPts val="0"/>
              </a:spcBef>
              <a:spcAft>
                <a:spcPts val="0"/>
              </a:spcAft>
              <a:defRPr sz="1200" b="1">
                <a:solidFill>
                  <a:prstClr val="white"/>
                </a:solidFill>
                <a:latin typeface="Calibri"/>
                <a:cs typeface="+mn-cs"/>
              </a:defRPr>
            </a:lvl1pPr>
          </a:lstStyle>
          <a:p>
            <a:pPr>
              <a:defRPr/>
            </a:pPr>
            <a:endParaRPr lang="fr-FR" dirty="0"/>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iming>
    <p:tnLst>
      <p:par>
        <p:cTn xmlns:p14="http://schemas.microsoft.com/office/powerpoint/2010/main" id="1" dur="indefinite" restart="never" nodeType="tmRoot"/>
      </p:par>
    </p:tnLst>
  </p:timing>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525344"/>
            <a:ext cx="9144000" cy="332656"/>
          </a:xfrm>
          <a:prstGeom prst="rect">
            <a:avLst/>
          </a:prstGeom>
          <a:solidFill>
            <a:srgbClr val="99000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fontAlgn="auto">
              <a:spcBef>
                <a:spcPts val="0"/>
              </a:spcBef>
              <a:spcAft>
                <a:spcPts val="0"/>
              </a:spcAft>
            </a:pPr>
            <a:endParaRPr lang="fr-FR" dirty="0">
              <a:solidFill>
                <a:prstClr val="white"/>
              </a:solidFill>
            </a:endParaRPr>
          </a:p>
        </p:txBody>
      </p:sp>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dirty="0" smtClean="0"/>
              <a:t>Modifiez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fr-FR" dirty="0"/>
          </a:p>
        </p:txBody>
      </p:sp>
      <p:sp>
        <p:nvSpPr>
          <p:cNvPr id="5" name="Espace réservé du pied de page 4"/>
          <p:cNvSpPr>
            <a:spLocks noGrp="1"/>
          </p:cNvSpPr>
          <p:nvPr>
            <p:ph type="ftr" sz="quarter" idx="3"/>
          </p:nvPr>
        </p:nvSpPr>
        <p:spPr>
          <a:xfrm>
            <a:off x="3124200" y="6492875"/>
            <a:ext cx="2895600" cy="365125"/>
          </a:xfrm>
          <a:prstGeom prst="rect">
            <a:avLst/>
          </a:prstGeom>
        </p:spPr>
        <p:txBody>
          <a:bodyPr vert="horz" lIns="91440" tIns="45720" rIns="91440" bIns="45720" rtlCol="0" anchor="ctr"/>
          <a:lstStyle>
            <a:lvl1pPr algn="ctr">
              <a:defRPr sz="1200" b="1">
                <a:solidFill>
                  <a:schemeClr val="bg1"/>
                </a:solidFill>
              </a:defRPr>
            </a:lvl1pPr>
          </a:lstStyle>
          <a:p>
            <a:pPr fontAlgn="auto">
              <a:spcBef>
                <a:spcPts val="0"/>
              </a:spcBef>
              <a:spcAft>
                <a:spcPts val="0"/>
              </a:spcAft>
            </a:pPr>
            <a:r>
              <a:rPr lang="en-GB" smtClean="0">
                <a:solidFill>
                  <a:prstClr val="white"/>
                </a:solidFill>
                <a:latin typeface="Calibri"/>
                <a:cs typeface="+mn-cs"/>
              </a:rPr>
              <a:t>Teresa Ribera, Director IDDRI</a:t>
            </a:r>
            <a:endParaRPr lang="fr-FR" dirty="0">
              <a:solidFill>
                <a:prstClr val="white"/>
              </a:solidFill>
              <a:latin typeface="Calibri"/>
              <a:cs typeface="+mn-cs"/>
            </a:endParaRPr>
          </a:p>
        </p:txBody>
      </p:sp>
      <p:sp>
        <p:nvSpPr>
          <p:cNvPr id="6" name="Espace réservé du numéro de diapositive 5"/>
          <p:cNvSpPr>
            <a:spLocks noGrp="1"/>
          </p:cNvSpPr>
          <p:nvPr>
            <p:ph type="sldNum" sz="quarter" idx="4"/>
          </p:nvPr>
        </p:nvSpPr>
        <p:spPr>
          <a:xfrm>
            <a:off x="8172400" y="6492875"/>
            <a:ext cx="549424" cy="365125"/>
          </a:xfrm>
          <a:prstGeom prst="rect">
            <a:avLst/>
          </a:prstGeom>
        </p:spPr>
        <p:txBody>
          <a:bodyPr vert="horz" lIns="91440" tIns="45720" rIns="91440" bIns="45720" rtlCol="0" anchor="ctr"/>
          <a:lstStyle>
            <a:lvl1pPr algn="r">
              <a:defRPr sz="1200">
                <a:solidFill>
                  <a:schemeClr val="bg1"/>
                </a:solidFill>
              </a:defRPr>
            </a:lvl1pPr>
          </a:lstStyle>
          <a:p>
            <a:pPr fontAlgn="auto">
              <a:spcBef>
                <a:spcPts val="0"/>
              </a:spcBef>
              <a:spcAft>
                <a:spcPts val="0"/>
              </a:spcAft>
            </a:pPr>
            <a:fld id="{B50B0FE4-844E-4121-A743-A2D891DBE779}" type="slidenum">
              <a:rPr lang="fr-FR" b="0" smtClean="0">
                <a:solidFill>
                  <a:prstClr val="white"/>
                </a:solidFill>
                <a:latin typeface="Calibri"/>
                <a:cs typeface="+mn-cs"/>
              </a:rPr>
              <a:pPr fontAlgn="auto">
                <a:spcBef>
                  <a:spcPts val="0"/>
                </a:spcBef>
                <a:spcAft>
                  <a:spcPts val="0"/>
                </a:spcAft>
              </a:pPr>
              <a:t>‹#›</a:t>
            </a:fld>
            <a:endParaRPr lang="fr-FR" b="0" dirty="0">
              <a:solidFill>
                <a:prstClr val="white"/>
              </a:solidFill>
              <a:latin typeface="Calibri"/>
              <a:cs typeface="+mn-cs"/>
            </a:endParaRPr>
          </a:p>
        </p:txBody>
      </p:sp>
      <p:sp>
        <p:nvSpPr>
          <p:cNvPr id="4" name="Espace réservé de la date 3"/>
          <p:cNvSpPr>
            <a:spLocks noGrp="1"/>
          </p:cNvSpPr>
          <p:nvPr>
            <p:ph type="dt" sz="half" idx="2"/>
          </p:nvPr>
        </p:nvSpPr>
        <p:spPr>
          <a:xfrm>
            <a:off x="467544" y="6492875"/>
            <a:ext cx="2133600" cy="365125"/>
          </a:xfrm>
          <a:prstGeom prst="rect">
            <a:avLst/>
          </a:prstGeom>
        </p:spPr>
        <p:txBody>
          <a:bodyPr vert="horz" lIns="91440" tIns="45720" rIns="91440" bIns="45720" rtlCol="0" anchor="ctr"/>
          <a:lstStyle>
            <a:lvl1pPr algn="l">
              <a:defRPr sz="1200" b="1">
                <a:solidFill>
                  <a:schemeClr val="bg1"/>
                </a:solidFill>
              </a:defRPr>
            </a:lvl1pPr>
          </a:lstStyle>
          <a:p>
            <a:pPr fontAlgn="auto">
              <a:spcBef>
                <a:spcPts val="0"/>
              </a:spcBef>
              <a:spcAft>
                <a:spcPts val="0"/>
              </a:spcAft>
            </a:pPr>
            <a:endParaRPr lang="fr-FR" dirty="0">
              <a:solidFill>
                <a:prstClr val="white"/>
              </a:solidFill>
              <a:latin typeface="Calibri"/>
              <a:cs typeface="+mn-cs"/>
            </a:endParaRPr>
          </a:p>
        </p:txBody>
      </p:sp>
    </p:spTree>
    <p:extLst>
      <p:ext uri="{BB962C8B-B14F-4D97-AF65-F5344CB8AC3E}">
        <p14:creationId xmlns:p14="http://schemas.microsoft.com/office/powerpoint/2010/main" val="117988328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timing>
    <p:tnLst>
      <p:par>
        <p:cTn xmlns:p14="http://schemas.microsoft.com/office/powerpoint/2010/main" id="1" dur="indefinite" restart="never" nodeType="tmRoot"/>
      </p:par>
    </p:tnLst>
  </p:timing>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525344"/>
            <a:ext cx="9144000" cy="332656"/>
          </a:xfrm>
          <a:prstGeom prst="rect">
            <a:avLst/>
          </a:prstGeom>
          <a:solidFill>
            <a:srgbClr val="99000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fontAlgn="auto">
              <a:spcBef>
                <a:spcPts val="0"/>
              </a:spcBef>
              <a:spcAft>
                <a:spcPts val="0"/>
              </a:spcAft>
            </a:pPr>
            <a:endParaRPr lang="fr-FR" dirty="0">
              <a:solidFill>
                <a:prstClr val="white"/>
              </a:solidFill>
            </a:endParaRPr>
          </a:p>
        </p:txBody>
      </p:sp>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dirty="0" smtClean="0"/>
              <a:t>Modifiez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fr-FR" dirty="0"/>
          </a:p>
        </p:txBody>
      </p:sp>
      <p:sp>
        <p:nvSpPr>
          <p:cNvPr id="5" name="Espace réservé du pied de page 4"/>
          <p:cNvSpPr>
            <a:spLocks noGrp="1"/>
          </p:cNvSpPr>
          <p:nvPr>
            <p:ph type="ftr" sz="quarter" idx="3"/>
          </p:nvPr>
        </p:nvSpPr>
        <p:spPr>
          <a:xfrm>
            <a:off x="3124200" y="6492875"/>
            <a:ext cx="2895600" cy="365125"/>
          </a:xfrm>
          <a:prstGeom prst="rect">
            <a:avLst/>
          </a:prstGeom>
        </p:spPr>
        <p:txBody>
          <a:bodyPr vert="horz" lIns="91440" tIns="45720" rIns="91440" bIns="45720" rtlCol="0" anchor="ctr"/>
          <a:lstStyle>
            <a:lvl1pPr algn="ctr">
              <a:defRPr sz="1200" b="1">
                <a:solidFill>
                  <a:schemeClr val="bg1"/>
                </a:solidFill>
              </a:defRPr>
            </a:lvl1pPr>
          </a:lstStyle>
          <a:p>
            <a:pPr fontAlgn="auto">
              <a:spcBef>
                <a:spcPts val="0"/>
              </a:spcBef>
              <a:spcAft>
                <a:spcPts val="0"/>
              </a:spcAft>
            </a:pPr>
            <a:r>
              <a:rPr lang="en-GB" smtClean="0">
                <a:solidFill>
                  <a:prstClr val="white"/>
                </a:solidFill>
                <a:latin typeface="Calibri"/>
              </a:rPr>
              <a:t>Teresa Ribera, Director IDDRI</a:t>
            </a:r>
            <a:endParaRPr lang="fr-FR" dirty="0">
              <a:solidFill>
                <a:prstClr val="white"/>
              </a:solidFill>
              <a:latin typeface="Calibri"/>
            </a:endParaRPr>
          </a:p>
        </p:txBody>
      </p:sp>
      <p:sp>
        <p:nvSpPr>
          <p:cNvPr id="6" name="Espace réservé du numéro de diapositive 5"/>
          <p:cNvSpPr>
            <a:spLocks noGrp="1"/>
          </p:cNvSpPr>
          <p:nvPr>
            <p:ph type="sldNum" sz="quarter" idx="4"/>
          </p:nvPr>
        </p:nvSpPr>
        <p:spPr>
          <a:xfrm>
            <a:off x="8172400" y="6492875"/>
            <a:ext cx="549424" cy="365125"/>
          </a:xfrm>
          <a:prstGeom prst="rect">
            <a:avLst/>
          </a:prstGeom>
        </p:spPr>
        <p:txBody>
          <a:bodyPr vert="horz" lIns="91440" tIns="45720" rIns="91440" bIns="45720" rtlCol="0" anchor="ctr"/>
          <a:lstStyle>
            <a:lvl1pPr algn="r">
              <a:defRPr sz="1200">
                <a:solidFill>
                  <a:schemeClr val="bg1"/>
                </a:solidFill>
              </a:defRPr>
            </a:lvl1pPr>
          </a:lstStyle>
          <a:p>
            <a:pPr fontAlgn="auto">
              <a:spcBef>
                <a:spcPts val="0"/>
              </a:spcBef>
              <a:spcAft>
                <a:spcPts val="0"/>
              </a:spcAft>
            </a:pPr>
            <a:fld id="{B50B0FE4-844E-4121-A743-A2D891DBE779}" type="slidenum">
              <a:rPr lang="fr-FR" b="0" smtClean="0">
                <a:solidFill>
                  <a:prstClr val="white"/>
                </a:solidFill>
                <a:latin typeface="Calibri"/>
              </a:rPr>
              <a:pPr fontAlgn="auto">
                <a:spcBef>
                  <a:spcPts val="0"/>
                </a:spcBef>
                <a:spcAft>
                  <a:spcPts val="0"/>
                </a:spcAft>
              </a:pPr>
              <a:t>‹#›</a:t>
            </a:fld>
            <a:endParaRPr lang="fr-FR" b="0" dirty="0">
              <a:solidFill>
                <a:prstClr val="white"/>
              </a:solidFill>
              <a:latin typeface="Calibri"/>
            </a:endParaRPr>
          </a:p>
        </p:txBody>
      </p:sp>
      <p:sp>
        <p:nvSpPr>
          <p:cNvPr id="4" name="Espace réservé de la date 3"/>
          <p:cNvSpPr>
            <a:spLocks noGrp="1"/>
          </p:cNvSpPr>
          <p:nvPr>
            <p:ph type="dt" sz="half" idx="2"/>
          </p:nvPr>
        </p:nvSpPr>
        <p:spPr>
          <a:xfrm>
            <a:off x="467544" y="6492875"/>
            <a:ext cx="2133600" cy="365125"/>
          </a:xfrm>
          <a:prstGeom prst="rect">
            <a:avLst/>
          </a:prstGeom>
        </p:spPr>
        <p:txBody>
          <a:bodyPr vert="horz" lIns="91440" tIns="45720" rIns="91440" bIns="45720" rtlCol="0" anchor="ctr"/>
          <a:lstStyle>
            <a:lvl1pPr algn="l">
              <a:defRPr sz="1200" b="1">
                <a:solidFill>
                  <a:schemeClr val="bg1"/>
                </a:solidFill>
              </a:defRPr>
            </a:lvl1pPr>
          </a:lstStyle>
          <a:p>
            <a:pPr fontAlgn="auto">
              <a:spcBef>
                <a:spcPts val="0"/>
              </a:spcBef>
              <a:spcAft>
                <a:spcPts val="0"/>
              </a:spcAft>
            </a:pPr>
            <a:endParaRPr lang="fr-FR" dirty="0">
              <a:solidFill>
                <a:prstClr val="white"/>
              </a:solidFill>
              <a:latin typeface="Calibri"/>
            </a:endParaRPr>
          </a:p>
        </p:txBody>
      </p:sp>
    </p:spTree>
    <p:extLst>
      <p:ext uri="{BB962C8B-B14F-4D97-AF65-F5344CB8AC3E}">
        <p14:creationId xmlns:p14="http://schemas.microsoft.com/office/powerpoint/2010/main" val="2564914382"/>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iming>
    <p:tnLst>
      <p:par>
        <p:cTn xmlns:p14="http://schemas.microsoft.com/office/powerpoint/2010/main" id="1" dur="indefinite" restart="never" nodeType="tmRoot"/>
      </p:par>
    </p:tnLst>
  </p:timing>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jpg"/><Relationship Id="rId1" Type="http://schemas.openxmlformats.org/officeDocument/2006/relationships/slideLayout" Target="../slideLayouts/slideLayout45.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4" Type="http://schemas.openxmlformats.org/officeDocument/2006/relationships/image" Target="../media/image10.png"/><Relationship Id="rId5" Type="http://schemas.openxmlformats.org/officeDocument/2006/relationships/image" Target="../media/image11.png"/><Relationship Id="rId1" Type="http://schemas.openxmlformats.org/officeDocument/2006/relationships/slideLayout" Target="../slideLayouts/slideLayout45.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3.jpg"/><Relationship Id="rId5" Type="http://schemas.openxmlformats.org/officeDocument/2006/relationships/image" Target="../media/image14.jpg"/><Relationship Id="rId1" Type="http://schemas.openxmlformats.org/officeDocument/2006/relationships/slideLayout" Target="../slideLayouts/slideLayout45.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4" Type="http://schemas.openxmlformats.org/officeDocument/2006/relationships/image" Target="../media/image16.png"/><Relationship Id="rId1" Type="http://schemas.openxmlformats.org/officeDocument/2006/relationships/slideLayout" Target="../slideLayouts/slideLayout45.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4" Type="http://schemas.openxmlformats.org/officeDocument/2006/relationships/image" Target="../media/image18.png"/><Relationship Id="rId1" Type="http://schemas.openxmlformats.org/officeDocument/2006/relationships/slideLayout" Target="../slideLayouts/slideLayout45.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4.xml"/><Relationship Id="rId3"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ctrTitle"/>
          </p:nvPr>
        </p:nvSpPr>
        <p:spPr>
          <a:xfrm>
            <a:off x="295275" y="2205038"/>
            <a:ext cx="8848725" cy="1728787"/>
          </a:xfrm>
        </p:spPr>
        <p:txBody>
          <a:bodyPr/>
          <a:lstStyle/>
          <a:p>
            <a:r>
              <a:rPr lang="en-US" b="1" dirty="0">
                <a:solidFill>
                  <a:srgbClr val="800000"/>
                </a:solidFill>
                <a:latin typeface="Arial" charset="0"/>
                <a:ea typeface="ＭＳ Ｐゴシック" charset="0"/>
              </a:rPr>
              <a:t>Partnering for a Sustainable </a:t>
            </a:r>
            <a:r>
              <a:rPr lang="en-US" b="1" dirty="0" smtClean="0">
                <a:solidFill>
                  <a:srgbClr val="800000"/>
                </a:solidFill>
                <a:latin typeface="Arial" charset="0"/>
                <a:ea typeface="ＭＳ Ｐゴシック" charset="0"/>
              </a:rPr>
              <a:t>Ocean:</a:t>
            </a:r>
            <a:br>
              <a:rPr lang="en-US" b="1" dirty="0" smtClean="0">
                <a:solidFill>
                  <a:srgbClr val="800000"/>
                </a:solidFill>
                <a:latin typeface="Arial" charset="0"/>
                <a:ea typeface="ＭＳ Ｐゴシック" charset="0"/>
              </a:rPr>
            </a:br>
            <a:r>
              <a:rPr lang="en-US" sz="2000" b="1" dirty="0" smtClean="0">
                <a:solidFill>
                  <a:srgbClr val="800000"/>
                </a:solidFill>
                <a:latin typeface="Arial" charset="0"/>
                <a:ea typeface="ＭＳ Ｐゴシック" charset="0"/>
              </a:rPr>
              <a:t>The </a:t>
            </a:r>
            <a:r>
              <a:rPr lang="en-US" sz="2000" b="1" dirty="0">
                <a:solidFill>
                  <a:srgbClr val="800000"/>
                </a:solidFill>
                <a:latin typeface="Arial" charset="0"/>
                <a:ea typeface="ＭＳ Ｐゴシック" charset="0"/>
              </a:rPr>
              <a:t>Role of Regional Ocean Governance in Implementing SDG14</a:t>
            </a:r>
          </a:p>
        </p:txBody>
      </p:sp>
      <p:sp>
        <p:nvSpPr>
          <p:cNvPr id="8" name="Rectangle 3"/>
          <p:cNvSpPr>
            <a:spLocks noGrp="1" noChangeArrowheads="1"/>
          </p:cNvSpPr>
          <p:nvPr>
            <p:ph type="subTitle" idx="1"/>
          </p:nvPr>
        </p:nvSpPr>
        <p:spPr>
          <a:xfrm>
            <a:off x="466725" y="4243388"/>
            <a:ext cx="8632825" cy="768350"/>
          </a:xfrm>
        </p:spPr>
        <p:txBody>
          <a:bodyPr/>
          <a:lstStyle/>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a:p>
            <a:pPr marL="0" indent="0" eaLnBrk="1" hangingPunct="1"/>
            <a:endParaRPr lang="fr-FR" sz="1800">
              <a:latin typeface="Arial" charset="0"/>
              <a:ea typeface="ＭＳ Ｐゴシック" charset="0"/>
            </a:endParaRPr>
          </a:p>
        </p:txBody>
      </p:sp>
      <p:sp>
        <p:nvSpPr>
          <p:cNvPr id="10" name="Rectangle 3"/>
          <p:cNvSpPr txBox="1">
            <a:spLocks noChangeArrowheads="1"/>
          </p:cNvSpPr>
          <p:nvPr/>
        </p:nvSpPr>
        <p:spPr bwMode="auto">
          <a:xfrm>
            <a:off x="295275" y="4038600"/>
            <a:ext cx="863282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Arial" charset="0"/>
                <a:ea typeface="ＭＳ Ｐゴシック" charset="0"/>
                <a:cs typeface="ＭＳ Ｐゴシック" charset="0"/>
              </a:defRPr>
            </a:lvl1pPr>
            <a:lvl2pPr marL="742950" indent="-285750" eaLnBrk="0" hangingPunct="0">
              <a:defRPr sz="2400" b="1">
                <a:solidFill>
                  <a:schemeClr val="tx1"/>
                </a:solidFill>
                <a:latin typeface="Arial" charset="0"/>
                <a:ea typeface="ＭＳ Ｐゴシック" charset="0"/>
              </a:defRPr>
            </a:lvl2pPr>
            <a:lvl3pPr marL="1143000" indent="-228600" eaLnBrk="0" hangingPunct="0">
              <a:defRPr sz="2400" b="1">
                <a:solidFill>
                  <a:schemeClr val="tx1"/>
                </a:solidFill>
                <a:latin typeface="Arial" charset="0"/>
                <a:ea typeface="ＭＳ Ｐゴシック" charset="0"/>
              </a:defRPr>
            </a:lvl3pPr>
            <a:lvl4pPr marL="1600200" indent="-228600" eaLnBrk="0" hangingPunct="0">
              <a:defRPr sz="2400" b="1">
                <a:solidFill>
                  <a:schemeClr val="tx1"/>
                </a:solidFill>
                <a:latin typeface="Arial" charset="0"/>
                <a:ea typeface="ＭＳ Ｐゴシック" charset="0"/>
              </a:defRPr>
            </a:lvl4pPr>
            <a:lvl5pPr marL="2057400" indent="-228600" eaLnBrk="0" hangingPunct="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pPr eaLnBrk="1" hangingPunct="1"/>
            <a:r>
              <a:rPr lang="en-US" sz="2000" dirty="0" smtClean="0">
                <a:latin typeface="Calibri" charset="0"/>
              </a:rPr>
              <a:t>International Oceans Institute</a:t>
            </a:r>
            <a:r>
              <a:rPr lang="en-US" sz="2000" b="0" dirty="0">
                <a:latin typeface="Calibri" charset="0"/>
              </a:rPr>
              <a:t/>
            </a:r>
            <a:br>
              <a:rPr lang="en-US" sz="2000" b="0" dirty="0">
                <a:latin typeface="Calibri" charset="0"/>
              </a:rPr>
            </a:br>
            <a:r>
              <a:rPr lang="en-US" sz="2000" b="0" dirty="0" smtClean="0">
                <a:latin typeface="Calibri" charset="0"/>
              </a:rPr>
              <a:t>Hong Kong</a:t>
            </a:r>
            <a:endParaRPr lang="en-US" sz="2000" b="0" dirty="0">
              <a:latin typeface="Calibri" charset="0"/>
            </a:endParaRPr>
          </a:p>
          <a:p>
            <a:pPr eaLnBrk="1" hangingPunct="1"/>
            <a:r>
              <a:rPr lang="en-US" sz="2000" b="0" dirty="0" smtClean="0">
                <a:latin typeface="Calibri" charset="0"/>
              </a:rPr>
              <a:t>26 April 2017</a:t>
            </a: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a:p>
            <a:pPr eaLnBrk="1" hangingPunct="1">
              <a:spcBef>
                <a:spcPct val="20000"/>
              </a:spcBef>
              <a:buFontTx/>
              <a:buChar char="•"/>
            </a:pPr>
            <a:endParaRPr lang="fr-FR" sz="1800" b="0" dirty="0"/>
          </a:p>
        </p:txBody>
      </p:sp>
      <p:sp>
        <p:nvSpPr>
          <p:cNvPr id="11" name="ZoneTexte 6"/>
          <p:cNvSpPr txBox="1">
            <a:spLocks noChangeArrowheads="1"/>
          </p:cNvSpPr>
          <p:nvPr/>
        </p:nvSpPr>
        <p:spPr bwMode="auto">
          <a:xfrm>
            <a:off x="6300788" y="5364163"/>
            <a:ext cx="2627312" cy="6463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1">
                <a:solidFill>
                  <a:schemeClr val="tx1"/>
                </a:solidFill>
                <a:latin typeface="Arial" charset="0"/>
                <a:ea typeface="ＭＳ Ｐゴシック" charset="0"/>
                <a:cs typeface="ＭＳ Ｐゴシック" charset="0"/>
              </a:defRPr>
            </a:lvl1pPr>
            <a:lvl2pPr marL="742950" indent="-285750" eaLnBrk="0" hangingPunct="0">
              <a:defRPr sz="2400" b="1">
                <a:solidFill>
                  <a:schemeClr val="tx1"/>
                </a:solidFill>
                <a:latin typeface="Arial" charset="0"/>
                <a:ea typeface="ＭＳ Ｐゴシック" charset="0"/>
              </a:defRPr>
            </a:lvl2pPr>
            <a:lvl3pPr marL="1143000" indent="-228600" eaLnBrk="0" hangingPunct="0">
              <a:defRPr sz="2400" b="1">
                <a:solidFill>
                  <a:schemeClr val="tx1"/>
                </a:solidFill>
                <a:latin typeface="Arial" charset="0"/>
                <a:ea typeface="ＭＳ Ｐゴシック" charset="0"/>
              </a:defRPr>
            </a:lvl3pPr>
            <a:lvl4pPr marL="1600200" indent="-228600" eaLnBrk="0" hangingPunct="0">
              <a:defRPr sz="2400" b="1">
                <a:solidFill>
                  <a:schemeClr val="tx1"/>
                </a:solidFill>
                <a:latin typeface="Arial" charset="0"/>
                <a:ea typeface="ＭＳ Ｐゴシック" charset="0"/>
              </a:defRPr>
            </a:lvl4pPr>
            <a:lvl5pPr marL="2057400" indent="-228600" eaLnBrk="0" hangingPunct="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pPr algn="r" eaLnBrk="1" hangingPunct="1"/>
            <a:r>
              <a:rPr lang="en-GB" sz="1800" dirty="0"/>
              <a:t>Glen </a:t>
            </a:r>
            <a:r>
              <a:rPr lang="en-GB" sz="1800" dirty="0" smtClean="0"/>
              <a:t>Wright</a:t>
            </a:r>
          </a:p>
          <a:p>
            <a:pPr algn="r" eaLnBrk="1" hangingPunct="1"/>
            <a:r>
              <a:rPr lang="en-GB" sz="1800" b="0" dirty="0" err="1" smtClean="0"/>
              <a:t>glen.wright@iddri.org</a:t>
            </a:r>
            <a:endParaRPr lang="en-GB" sz="1600" b="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3467100" y="3238500"/>
            <a:ext cx="2197100" cy="1143000"/>
          </a:xfrm>
          <a:prstGeom prst="rect">
            <a:avLst/>
          </a:prstGeom>
        </p:spPr>
      </p:pic>
      <p:pic>
        <p:nvPicPr>
          <p:cNvPr id="6" name="Image 5" descr="Capture d’écran 2017-04-25 à 18.22.08.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5809" y="2078579"/>
            <a:ext cx="2017191" cy="1111073"/>
          </a:xfrm>
          <a:prstGeom prst="rect">
            <a:avLst/>
          </a:prstGeom>
        </p:spPr>
      </p:pic>
      <p:pic>
        <p:nvPicPr>
          <p:cNvPr id="7" name="Image 6" descr="Capture d’écran 2017-04-25 à 18.24.56.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44098" y="4724400"/>
            <a:ext cx="2645833" cy="1143000"/>
          </a:xfrm>
          <a:prstGeom prst="rect">
            <a:avLst/>
          </a:prstGeom>
        </p:spPr>
      </p:pic>
      <p:pic>
        <p:nvPicPr>
          <p:cNvPr id="8" name="Image 7" descr="Institute_for_Advanced_Sustainability_Studies_logo.svg.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93600" y="2468468"/>
            <a:ext cx="1981200" cy="1354885"/>
          </a:xfrm>
          <a:prstGeom prst="rect">
            <a:avLst/>
          </a:prstGeom>
        </p:spPr>
      </p:pic>
      <p:pic>
        <p:nvPicPr>
          <p:cNvPr id="14" name="Image 13" descr="Capture d’écran 2017-04-25 à 18.27.32.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1000" y="1699341"/>
            <a:ext cx="3505200" cy="2110659"/>
          </a:xfrm>
          <a:prstGeom prst="rect">
            <a:avLst/>
          </a:prstGeom>
        </p:spPr>
      </p:pic>
      <p:pic>
        <p:nvPicPr>
          <p:cNvPr id="15" name="Image 14" descr="unnamed.pn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43400" y="1600200"/>
            <a:ext cx="2249763" cy="990600"/>
          </a:xfrm>
          <a:prstGeom prst="rect">
            <a:avLst/>
          </a:prstGeom>
        </p:spPr>
      </p:pic>
      <p:pic>
        <p:nvPicPr>
          <p:cNvPr id="16" name="Image 15" descr="logo.jpg"/>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48200" y="4724400"/>
            <a:ext cx="2997200" cy="787400"/>
          </a:xfrm>
          <a:prstGeom prst="rect">
            <a:avLst/>
          </a:prstGeom>
        </p:spPr>
      </p:pic>
    </p:spTree>
    <p:extLst>
      <p:ext uri="{BB962C8B-B14F-4D97-AF65-F5344CB8AC3E}">
        <p14:creationId xmlns:p14="http://schemas.microsoft.com/office/powerpoint/2010/main" val="2411754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Key messages</a:t>
            </a:r>
            <a:endParaRPr lang="fr-FR" dirty="0"/>
          </a:p>
        </p:txBody>
      </p:sp>
      <p:sp>
        <p:nvSpPr>
          <p:cNvPr id="6" name="Espace réservé du contenu 1"/>
          <p:cNvSpPr>
            <a:spLocks noGrp="1"/>
          </p:cNvSpPr>
          <p:nvPr>
            <p:ph idx="1"/>
          </p:nvPr>
        </p:nvSpPr>
        <p:spPr>
          <a:xfrm>
            <a:off x="596813" y="1576388"/>
            <a:ext cx="8054974" cy="4824412"/>
          </a:xfrm>
        </p:spPr>
        <p:txBody>
          <a:bodyPr>
            <a:normAutofit/>
          </a:bodyPr>
          <a:lstStyle/>
          <a:p>
            <a:pPr marL="342900" indent="-342900">
              <a:buFont typeface="Arial"/>
              <a:buChar char="•"/>
            </a:pPr>
            <a:r>
              <a:rPr lang="en-GB" sz="2800" dirty="0" smtClean="0">
                <a:latin typeface="Arial" charset="0"/>
                <a:ea typeface="ＭＳ Ｐゴシック" charset="0"/>
              </a:rPr>
              <a:t>Importance of regional partnerships and cooperation in implementing SDG14</a:t>
            </a:r>
          </a:p>
          <a:p>
            <a:pPr marL="342900" indent="-342900">
              <a:buFont typeface="Arial"/>
              <a:buChar char="•"/>
            </a:pPr>
            <a:endParaRPr lang="en-GB" sz="2800" dirty="0" smtClean="0">
              <a:latin typeface="Arial" charset="0"/>
              <a:ea typeface="ＭＳ Ｐゴシック" charset="0"/>
            </a:endParaRPr>
          </a:p>
          <a:p>
            <a:pPr marL="342900" indent="-342900">
              <a:buFont typeface="Arial"/>
              <a:buChar char="•"/>
            </a:pPr>
            <a:r>
              <a:rPr lang="en-GB" sz="2800" dirty="0">
                <a:latin typeface="Arial" charset="0"/>
                <a:ea typeface="ＭＳ Ｐゴシック" charset="0"/>
              </a:rPr>
              <a:t>R</a:t>
            </a:r>
            <a:r>
              <a:rPr lang="en-GB" sz="2800" dirty="0" smtClean="0">
                <a:latin typeface="Arial" charset="0"/>
                <a:ea typeface="ＭＳ Ｐゴシック" charset="0"/>
              </a:rPr>
              <a:t>egional ocean governance initiatives are already making a difference</a:t>
            </a:r>
          </a:p>
          <a:p>
            <a:pPr marL="342900" indent="-342900">
              <a:buFont typeface="Arial"/>
              <a:buChar char="•"/>
            </a:pPr>
            <a:endParaRPr lang="en-GB" sz="2800" dirty="0">
              <a:latin typeface="Arial" charset="0"/>
              <a:ea typeface="ＭＳ Ｐゴシック" charset="0"/>
            </a:endParaRPr>
          </a:p>
          <a:p>
            <a:pPr marL="342900" indent="-342900">
              <a:buFont typeface="Arial"/>
              <a:buChar char="•"/>
            </a:pPr>
            <a:r>
              <a:rPr lang="en-GB" sz="2800" dirty="0">
                <a:latin typeface="Arial" charset="0"/>
                <a:ea typeface="ＭＳ Ｐゴシック" charset="0"/>
              </a:rPr>
              <a:t>N</a:t>
            </a:r>
            <a:r>
              <a:rPr lang="en-GB" sz="2800" dirty="0" smtClean="0">
                <a:latin typeface="Arial" charset="0"/>
                <a:ea typeface="ＭＳ Ｐゴシック" charset="0"/>
              </a:rPr>
              <a:t>eed to build engagement at the regional level</a:t>
            </a:r>
            <a:endParaRPr lang="en-GB" sz="2800" dirty="0">
              <a:latin typeface="Arial" charset="0"/>
              <a:ea typeface="ＭＳ Ｐゴシック" charset="0"/>
            </a:endParaRPr>
          </a:p>
        </p:txBody>
      </p:sp>
    </p:spTree>
    <p:extLst>
      <p:ext uri="{BB962C8B-B14F-4D97-AF65-F5344CB8AC3E}">
        <p14:creationId xmlns:p14="http://schemas.microsoft.com/office/powerpoint/2010/main" val="2799255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PROG report</a:t>
            </a:r>
            <a:endParaRPr lang="fr-FR" dirty="0"/>
          </a:p>
        </p:txBody>
      </p:sp>
      <p:sp>
        <p:nvSpPr>
          <p:cNvPr id="6" name="Espace réservé du contenu 1"/>
          <p:cNvSpPr>
            <a:spLocks noGrp="1"/>
          </p:cNvSpPr>
          <p:nvPr>
            <p:ph idx="1"/>
          </p:nvPr>
        </p:nvSpPr>
        <p:spPr>
          <a:xfrm>
            <a:off x="596813" y="1447800"/>
            <a:ext cx="8054974" cy="4953000"/>
          </a:xfrm>
        </p:spPr>
        <p:txBody>
          <a:bodyPr>
            <a:normAutofit lnSpcReduction="10000"/>
          </a:bodyPr>
          <a:lstStyle/>
          <a:p>
            <a:pPr marL="342900" indent="-342900">
              <a:buFont typeface="Arial"/>
              <a:buChar char="•"/>
            </a:pPr>
            <a:r>
              <a:rPr lang="en-GB" sz="2800" dirty="0" smtClean="0">
                <a:latin typeface="Arial" charset="0"/>
                <a:ea typeface="ＭＳ Ｐゴシック" charset="0"/>
              </a:rPr>
              <a:t>Background and history of regional ocean governance</a:t>
            </a:r>
          </a:p>
          <a:p>
            <a:pPr marL="342900" indent="-342900">
              <a:buFont typeface="Arial"/>
              <a:buChar char="•"/>
            </a:pPr>
            <a:endParaRPr lang="en-GB" sz="2800" dirty="0" smtClean="0">
              <a:latin typeface="Arial" charset="0"/>
              <a:ea typeface="ＭＳ Ｐゴシック" charset="0"/>
            </a:endParaRPr>
          </a:p>
          <a:p>
            <a:pPr marL="342900" indent="-342900">
              <a:buFont typeface="Arial"/>
              <a:buChar char="•"/>
            </a:pPr>
            <a:r>
              <a:rPr lang="en-GB" sz="2800" dirty="0" smtClean="0">
                <a:latin typeface="Arial" charset="0"/>
                <a:ea typeface="ＭＳ Ｐゴシック" charset="0"/>
              </a:rPr>
              <a:t>Overview of different mechanisms</a:t>
            </a:r>
          </a:p>
          <a:p>
            <a:pPr marL="342900" indent="-342900">
              <a:buFont typeface="Arial"/>
              <a:buChar char="•"/>
            </a:pPr>
            <a:endParaRPr lang="en-GB" sz="2800" dirty="0" smtClean="0">
              <a:latin typeface="Arial" charset="0"/>
              <a:ea typeface="ＭＳ Ｐゴシック" charset="0"/>
            </a:endParaRPr>
          </a:p>
          <a:p>
            <a:pPr marL="342900" indent="-342900">
              <a:buFont typeface="Arial"/>
              <a:buChar char="•"/>
            </a:pPr>
            <a:r>
              <a:rPr lang="en-GB" sz="2800" dirty="0" smtClean="0">
                <a:latin typeface="Arial" charset="0"/>
                <a:ea typeface="ＭＳ Ｐゴシック" charset="0"/>
              </a:rPr>
              <a:t>Target-by-target analysis with case studies</a:t>
            </a:r>
          </a:p>
          <a:p>
            <a:pPr marL="342900" indent="-342900">
              <a:buFont typeface="Arial"/>
              <a:buChar char="•"/>
            </a:pPr>
            <a:endParaRPr lang="en-GB" sz="2800" dirty="0" smtClean="0">
              <a:latin typeface="Arial" charset="0"/>
              <a:ea typeface="ＭＳ Ｐゴシック" charset="0"/>
            </a:endParaRPr>
          </a:p>
          <a:p>
            <a:pPr marL="342900" indent="-342900">
              <a:buFont typeface="Arial"/>
              <a:buChar char="•"/>
            </a:pPr>
            <a:r>
              <a:rPr lang="en-GB" sz="2800" dirty="0" smtClean="0">
                <a:latin typeface="Arial" charset="0"/>
                <a:ea typeface="ＭＳ Ｐゴシック" charset="0"/>
              </a:rPr>
              <a:t>Partnership case studies</a:t>
            </a:r>
          </a:p>
          <a:p>
            <a:pPr marL="342900" indent="-342900">
              <a:buFont typeface="Arial"/>
              <a:buChar char="•"/>
            </a:pPr>
            <a:endParaRPr lang="en-GB" sz="2800" dirty="0" smtClean="0">
              <a:latin typeface="Arial" charset="0"/>
              <a:ea typeface="ＭＳ Ｐゴシック" charset="0"/>
            </a:endParaRPr>
          </a:p>
          <a:p>
            <a:pPr marL="342900" indent="-342900">
              <a:buFont typeface="Arial"/>
              <a:buChar char="•"/>
            </a:pPr>
            <a:r>
              <a:rPr lang="en-GB" sz="2800" dirty="0" smtClean="0">
                <a:latin typeface="Arial" charset="0"/>
                <a:ea typeface="ＭＳ Ｐゴシック" charset="0"/>
              </a:rPr>
              <a:t>Overarching issues, e.g. finance, capacity development</a:t>
            </a:r>
            <a:endParaRPr lang="en-GB" sz="2800" dirty="0">
              <a:latin typeface="Arial" charset="0"/>
              <a:ea typeface="ＭＳ Ｐゴシック" charset="0"/>
            </a:endParaRPr>
          </a:p>
        </p:txBody>
      </p:sp>
    </p:spTree>
    <p:extLst>
      <p:ext uri="{BB962C8B-B14F-4D97-AF65-F5344CB8AC3E}">
        <p14:creationId xmlns:p14="http://schemas.microsoft.com/office/powerpoint/2010/main" val="2860935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Regional ocean governance (1)</a:t>
            </a:r>
            <a:endParaRPr lang="fr-FR" dirty="0"/>
          </a:p>
        </p:txBody>
      </p:sp>
      <p:sp>
        <p:nvSpPr>
          <p:cNvPr id="4" name="Espace réservé du contenu 1"/>
          <p:cNvSpPr>
            <a:spLocks noGrp="1"/>
          </p:cNvSpPr>
          <p:nvPr>
            <p:ph idx="1"/>
          </p:nvPr>
        </p:nvSpPr>
        <p:spPr>
          <a:xfrm>
            <a:off x="596813" y="1204200"/>
            <a:ext cx="8054974" cy="4824412"/>
          </a:xfrm>
        </p:spPr>
        <p:txBody>
          <a:bodyPr>
            <a:noAutofit/>
          </a:bodyPr>
          <a:lstStyle/>
          <a:p>
            <a:pPr marL="342900" indent="-342900">
              <a:buFont typeface="Arial"/>
              <a:buChar char="•"/>
            </a:pPr>
            <a:r>
              <a:rPr lang="en-GB" sz="2400" dirty="0"/>
              <a:t>T</a:t>
            </a:r>
            <a:r>
              <a:rPr lang="en-GB" sz="2400" dirty="0" smtClean="0"/>
              <a:t>ransboundary </a:t>
            </a:r>
            <a:r>
              <a:rPr lang="en-GB" sz="2400" dirty="0"/>
              <a:t>nature of marine resources </a:t>
            </a:r>
            <a:r>
              <a:rPr lang="en-GB" sz="2400" dirty="0" smtClean="0"/>
              <a:t>&amp; threats </a:t>
            </a:r>
            <a:r>
              <a:rPr lang="en-GB" sz="2400" dirty="0"/>
              <a:t>to the marine environment </a:t>
            </a:r>
            <a:r>
              <a:rPr lang="en-GB" sz="2400" dirty="0" smtClean="0"/>
              <a:t>present unique challenges:</a:t>
            </a:r>
          </a:p>
          <a:p>
            <a:pPr marL="787400" lvl="1">
              <a:buFont typeface="Arial"/>
              <a:buChar char="•"/>
            </a:pPr>
            <a:r>
              <a:rPr lang="en-GB" sz="2400" dirty="0" smtClean="0"/>
              <a:t>cannot </a:t>
            </a:r>
            <a:r>
              <a:rPr lang="en-GB" sz="2400" dirty="0"/>
              <a:t>be tackled effectively by States acting </a:t>
            </a:r>
            <a:r>
              <a:rPr lang="en-GB" sz="2400" dirty="0" smtClean="0"/>
              <a:t>individually</a:t>
            </a:r>
            <a:r>
              <a:rPr lang="fr-FR" sz="2400" dirty="0" smtClean="0"/>
              <a:t> </a:t>
            </a:r>
          </a:p>
          <a:p>
            <a:pPr marL="787400" lvl="1">
              <a:buFont typeface="Arial"/>
              <a:buChar char="•"/>
            </a:pPr>
            <a:r>
              <a:rPr lang="en-GB" sz="2400" dirty="0" smtClean="0"/>
              <a:t>implies </a:t>
            </a:r>
            <a:r>
              <a:rPr lang="en-GB" sz="2400" dirty="0"/>
              <a:t>a responsibility for national governments to collaborate to achieve </a:t>
            </a:r>
            <a:r>
              <a:rPr lang="en-GB" sz="2400" dirty="0" smtClean="0"/>
              <a:t>SDG14</a:t>
            </a:r>
          </a:p>
          <a:p>
            <a:pPr marL="342900" indent="-342900">
              <a:buFont typeface="Arial"/>
              <a:buChar char="•"/>
            </a:pPr>
            <a:endParaRPr lang="fr-FR" sz="2400" dirty="0" smtClean="0"/>
          </a:p>
          <a:p>
            <a:pPr marL="342900" indent="-342900">
              <a:buFont typeface="Arial"/>
              <a:buChar char="•"/>
            </a:pPr>
            <a:r>
              <a:rPr lang="en-GB" sz="2400" dirty="0" smtClean="0"/>
              <a:t>UNCLOS, Article 197: encourages States to </a:t>
            </a:r>
            <a:r>
              <a:rPr lang="en-GB" sz="2400" dirty="0"/>
              <a:t>cooperate “as appropriate, on a regional basis, directly or through competent international organisations for the protection and preservation of the marine environment, taking into account characteristic regional features</a:t>
            </a:r>
            <a:r>
              <a:rPr lang="en-GB" sz="2400" dirty="0" smtClean="0"/>
              <a:t>”</a:t>
            </a:r>
          </a:p>
          <a:p>
            <a:pPr marL="342900" indent="-342900">
              <a:buFont typeface="Arial"/>
              <a:buChar char="•"/>
            </a:pPr>
            <a:endParaRPr lang="en-GB" sz="2400" dirty="0">
              <a:ea typeface="ＭＳ Ｐゴシック" charset="0"/>
            </a:endParaRPr>
          </a:p>
          <a:p>
            <a:pPr marL="342900" indent="-342900">
              <a:buFont typeface="Arial"/>
              <a:buChar char="•"/>
            </a:pPr>
            <a:r>
              <a:rPr lang="en-GB" sz="2400" dirty="0" smtClean="0">
                <a:ea typeface="ＭＳ Ｐゴシック" charset="0"/>
              </a:rPr>
              <a:t>Highlighted in the 2030 Agenda</a:t>
            </a:r>
            <a:endParaRPr lang="fr-FR" sz="2400" dirty="0">
              <a:ea typeface="ＭＳ Ｐゴシック" charset="0"/>
            </a:endParaRPr>
          </a:p>
          <a:p>
            <a:pPr marL="342900" indent="-342900">
              <a:buFont typeface="Arial"/>
              <a:buChar char="•"/>
            </a:pPr>
            <a:endParaRPr lang="en-GB" sz="2400" dirty="0">
              <a:ea typeface="ＭＳ Ｐゴシック" charset="0"/>
            </a:endParaRPr>
          </a:p>
        </p:txBody>
      </p:sp>
    </p:spTree>
    <p:extLst>
      <p:ext uri="{BB962C8B-B14F-4D97-AF65-F5344CB8AC3E}">
        <p14:creationId xmlns:p14="http://schemas.microsoft.com/office/powerpoint/2010/main" val="2683515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Regional ocean governance (2)</a:t>
            </a:r>
            <a:endParaRPr lang="fr-FR" dirty="0"/>
          </a:p>
        </p:txBody>
      </p:sp>
      <p:sp>
        <p:nvSpPr>
          <p:cNvPr id="4" name="Espace réservé du contenu 1"/>
          <p:cNvSpPr>
            <a:spLocks noGrp="1"/>
          </p:cNvSpPr>
          <p:nvPr>
            <p:ph idx="1"/>
          </p:nvPr>
        </p:nvSpPr>
        <p:spPr>
          <a:xfrm>
            <a:off x="596813" y="1371600"/>
            <a:ext cx="8054974" cy="4824412"/>
          </a:xfrm>
        </p:spPr>
        <p:txBody>
          <a:bodyPr>
            <a:normAutofit/>
          </a:bodyPr>
          <a:lstStyle/>
          <a:p>
            <a:r>
              <a:rPr lang="en-GB" sz="2400" dirty="0" smtClean="0"/>
              <a:t>Takes many </a:t>
            </a:r>
            <a:r>
              <a:rPr lang="en-GB" sz="2400" dirty="0"/>
              <a:t>forms, including: </a:t>
            </a:r>
            <a:endParaRPr lang="en-GB" sz="2400" dirty="0" smtClean="0"/>
          </a:p>
          <a:p>
            <a:pPr marL="787400" lvl="1">
              <a:buFont typeface="Arial"/>
              <a:buChar char="•"/>
            </a:pPr>
            <a:r>
              <a:rPr lang="en-GB" sz="2400" dirty="0" smtClean="0"/>
              <a:t>Regional </a:t>
            </a:r>
            <a:r>
              <a:rPr lang="en-GB" sz="2400" dirty="0"/>
              <a:t>Seas Conventions and Action </a:t>
            </a:r>
            <a:r>
              <a:rPr lang="en-GB" sz="2400" dirty="0" smtClean="0"/>
              <a:t>Plans</a:t>
            </a:r>
          </a:p>
          <a:p>
            <a:pPr marL="787400" lvl="1">
              <a:buFont typeface="Arial"/>
              <a:buChar char="•"/>
            </a:pPr>
            <a:r>
              <a:rPr lang="en-GB" sz="2400" dirty="0" smtClean="0"/>
              <a:t>Regional </a:t>
            </a:r>
            <a:r>
              <a:rPr lang="en-GB" sz="2400" dirty="0"/>
              <a:t>Fisheries </a:t>
            </a:r>
            <a:r>
              <a:rPr lang="en-GB" sz="2400" dirty="0" smtClean="0"/>
              <a:t>Bodies</a:t>
            </a:r>
          </a:p>
          <a:p>
            <a:pPr marL="787400" lvl="1">
              <a:buFont typeface="Arial"/>
              <a:buChar char="•"/>
            </a:pPr>
            <a:r>
              <a:rPr lang="en-GB" sz="2400" dirty="0"/>
              <a:t>P</a:t>
            </a:r>
            <a:r>
              <a:rPr lang="en-GB" sz="2400" dirty="0" smtClean="0"/>
              <a:t>olitical </a:t>
            </a:r>
            <a:r>
              <a:rPr lang="en-GB" sz="2400" dirty="0"/>
              <a:t>and economic </a:t>
            </a:r>
            <a:r>
              <a:rPr lang="en-GB" sz="2400" dirty="0" smtClean="0"/>
              <a:t>organisations</a:t>
            </a:r>
          </a:p>
          <a:p>
            <a:pPr marL="787400" lvl="1">
              <a:buFont typeface="Arial"/>
              <a:buChar char="•"/>
            </a:pPr>
            <a:r>
              <a:rPr lang="en-GB" sz="2400" dirty="0"/>
              <a:t>L</a:t>
            </a:r>
            <a:r>
              <a:rPr lang="en-GB" sz="2400" dirty="0" smtClean="0"/>
              <a:t>eader</a:t>
            </a:r>
            <a:r>
              <a:rPr lang="en-GB" sz="2400" dirty="0"/>
              <a:t>-driven </a:t>
            </a:r>
            <a:r>
              <a:rPr lang="en-GB" sz="2400" dirty="0" smtClean="0"/>
              <a:t>initiatives</a:t>
            </a:r>
          </a:p>
          <a:p>
            <a:pPr marL="787400" lvl="1">
              <a:buFont typeface="Arial"/>
              <a:buChar char="•"/>
            </a:pPr>
            <a:r>
              <a:rPr lang="en-GB" sz="2400" dirty="0" smtClean="0"/>
              <a:t>Large </a:t>
            </a:r>
            <a:r>
              <a:rPr lang="en-GB" sz="2400" dirty="0"/>
              <a:t>Marine Ecosystem (LME) </a:t>
            </a:r>
            <a:r>
              <a:rPr lang="en-GB" sz="2400" dirty="0" smtClean="0"/>
              <a:t>projects</a:t>
            </a:r>
            <a:endParaRPr lang="en-GB" sz="2400" dirty="0">
              <a:latin typeface="Arial" charset="0"/>
              <a:ea typeface="ＭＳ Ｐゴシック" charset="0"/>
            </a:endParaRPr>
          </a:p>
        </p:txBody>
      </p:sp>
    </p:spTree>
    <p:extLst>
      <p:ext uri="{BB962C8B-B14F-4D97-AF65-F5344CB8AC3E}">
        <p14:creationId xmlns:p14="http://schemas.microsoft.com/office/powerpoint/2010/main" val="739791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GB" dirty="0"/>
              <a:t>Tackling </a:t>
            </a:r>
            <a:r>
              <a:rPr lang="en-GB" dirty="0" smtClean="0"/>
              <a:t>SDG14 </a:t>
            </a:r>
            <a:r>
              <a:rPr lang="en-GB" dirty="0"/>
              <a:t>targets at the regional level</a:t>
            </a:r>
            <a:endParaRPr lang="fr-FR" dirty="0"/>
          </a:p>
        </p:txBody>
      </p:sp>
      <p:sp>
        <p:nvSpPr>
          <p:cNvPr id="3" name="Espace réservé du contenu 1"/>
          <p:cNvSpPr>
            <a:spLocks noGrp="1"/>
          </p:cNvSpPr>
          <p:nvPr>
            <p:ph idx="1"/>
          </p:nvPr>
        </p:nvSpPr>
        <p:spPr>
          <a:xfrm>
            <a:off x="596813" y="1371600"/>
            <a:ext cx="8054974" cy="4824412"/>
          </a:xfrm>
        </p:spPr>
        <p:txBody>
          <a:bodyPr>
            <a:normAutofit/>
          </a:bodyPr>
          <a:lstStyle/>
          <a:p>
            <a:pPr marL="1081088" indent="-547688">
              <a:buFont typeface="+mj-lt"/>
              <a:buAutoNum type="arabicPeriod"/>
              <a:tabLst>
                <a:tab pos="800100" algn="l"/>
                <a:tab pos="1254125" algn="l"/>
              </a:tabLst>
            </a:pPr>
            <a:r>
              <a:rPr lang="en-GB" sz="2400" b="1" dirty="0" smtClean="0"/>
              <a:t>Marine </a:t>
            </a:r>
            <a:r>
              <a:rPr lang="en-GB" sz="2400" b="1" dirty="0"/>
              <a:t>p</a:t>
            </a:r>
            <a:r>
              <a:rPr lang="en-GB" sz="2400" b="1" dirty="0" smtClean="0"/>
              <a:t>ollution</a:t>
            </a:r>
            <a:endParaRPr lang="fr-FR" sz="2400" b="1" dirty="0"/>
          </a:p>
          <a:p>
            <a:pPr marL="1081088" indent="-547688">
              <a:buFont typeface="+mj-lt"/>
              <a:buAutoNum type="arabicPeriod"/>
              <a:tabLst>
                <a:tab pos="800100" algn="l"/>
                <a:tab pos="1254125" algn="l"/>
              </a:tabLst>
            </a:pPr>
            <a:r>
              <a:rPr lang="en-GB" sz="2400" b="1" dirty="0" smtClean="0"/>
              <a:t>Sustainable </a:t>
            </a:r>
            <a:r>
              <a:rPr lang="en-GB" sz="2400" b="1" dirty="0"/>
              <a:t>management and </a:t>
            </a:r>
            <a:r>
              <a:rPr lang="en-GB" sz="2400" b="1" dirty="0" smtClean="0"/>
              <a:t>protection</a:t>
            </a:r>
            <a:endParaRPr lang="fr-FR" sz="2400" b="1" dirty="0"/>
          </a:p>
          <a:p>
            <a:pPr marL="1081088" indent="-547688">
              <a:buFont typeface="+mj-lt"/>
              <a:buAutoNum type="arabicPeriod"/>
              <a:tabLst>
                <a:tab pos="800100" algn="l"/>
                <a:tab pos="1254125" algn="l"/>
              </a:tabLst>
            </a:pPr>
            <a:r>
              <a:rPr lang="en-GB" sz="2400" dirty="0" smtClean="0"/>
              <a:t>Ocean </a:t>
            </a:r>
            <a:r>
              <a:rPr lang="en-GB" sz="2400" dirty="0"/>
              <a:t>acidification</a:t>
            </a:r>
            <a:endParaRPr lang="fr-FR" sz="2400" dirty="0"/>
          </a:p>
          <a:p>
            <a:pPr marL="1081088" indent="-547688">
              <a:buFont typeface="+mj-lt"/>
              <a:buAutoNum type="arabicPeriod"/>
              <a:tabLst>
                <a:tab pos="800100" algn="l"/>
                <a:tab pos="1254125" algn="l"/>
              </a:tabLst>
            </a:pPr>
            <a:r>
              <a:rPr lang="en-GB" sz="2400" b="1" dirty="0" smtClean="0"/>
              <a:t>Sustainable </a:t>
            </a:r>
            <a:r>
              <a:rPr lang="en-GB" sz="2400" b="1" dirty="0"/>
              <a:t>f</a:t>
            </a:r>
            <a:r>
              <a:rPr lang="en-GB" sz="2400" b="1" dirty="0" smtClean="0"/>
              <a:t>isheries</a:t>
            </a:r>
            <a:endParaRPr lang="fr-FR" sz="2400" b="1" dirty="0"/>
          </a:p>
          <a:p>
            <a:pPr marL="1081088" indent="-547688">
              <a:buFont typeface="+mj-lt"/>
              <a:buAutoNum type="arabicPeriod"/>
              <a:tabLst>
                <a:tab pos="800100" algn="l"/>
                <a:tab pos="1254125" algn="l"/>
              </a:tabLst>
            </a:pPr>
            <a:r>
              <a:rPr lang="en-GB" sz="2400" b="1" dirty="0" smtClean="0"/>
              <a:t>Conservation</a:t>
            </a:r>
            <a:endParaRPr lang="fr-FR" sz="2400" b="1" dirty="0"/>
          </a:p>
          <a:p>
            <a:pPr marL="1081088" indent="-547688">
              <a:buFont typeface="+mj-lt"/>
              <a:buAutoNum type="arabicPeriod"/>
              <a:tabLst>
                <a:tab pos="800100" algn="l"/>
                <a:tab pos="1254125" algn="l"/>
              </a:tabLst>
            </a:pPr>
            <a:r>
              <a:rPr lang="en-GB" sz="2400" dirty="0" smtClean="0"/>
              <a:t>Fisheries </a:t>
            </a:r>
            <a:r>
              <a:rPr lang="en-GB" sz="2400" dirty="0"/>
              <a:t>subsidies</a:t>
            </a:r>
            <a:endParaRPr lang="fr-FR" sz="2400" dirty="0"/>
          </a:p>
          <a:p>
            <a:pPr marL="1081088" indent="-547688">
              <a:buFont typeface="+mj-lt"/>
              <a:buAutoNum type="arabicPeriod"/>
              <a:tabLst>
                <a:tab pos="800100" algn="l"/>
                <a:tab pos="1254125" algn="l"/>
              </a:tabLst>
            </a:pPr>
            <a:r>
              <a:rPr lang="en-GB" sz="2400" b="1" dirty="0" smtClean="0"/>
              <a:t>SIDS </a:t>
            </a:r>
            <a:r>
              <a:rPr lang="en-GB" sz="2400" b="1" dirty="0"/>
              <a:t>and LDCs</a:t>
            </a:r>
            <a:endParaRPr lang="fr-FR" sz="2400" b="1" dirty="0"/>
          </a:p>
          <a:p>
            <a:pPr marL="1081088" indent="-547688">
              <a:buAutoNum type="alphaLcPeriod"/>
              <a:tabLst>
                <a:tab pos="800100" algn="l"/>
                <a:tab pos="1254125" algn="l"/>
              </a:tabLst>
            </a:pPr>
            <a:r>
              <a:rPr lang="en-GB" sz="2400" dirty="0" smtClean="0"/>
              <a:t>Knowledge</a:t>
            </a:r>
            <a:r>
              <a:rPr lang="en-GB" sz="2400" dirty="0"/>
              <a:t>, capacity building &amp; technology </a:t>
            </a:r>
            <a:r>
              <a:rPr lang="en-GB" sz="2400" dirty="0" smtClean="0"/>
              <a:t>transfer</a:t>
            </a:r>
          </a:p>
          <a:p>
            <a:pPr marL="1081088" indent="-547688">
              <a:buAutoNum type="alphaLcPeriod"/>
              <a:tabLst>
                <a:tab pos="800100" algn="l"/>
                <a:tab pos="1254125" algn="l"/>
              </a:tabLst>
            </a:pPr>
            <a:r>
              <a:rPr lang="en-GB" sz="2400" b="1" dirty="0" smtClean="0"/>
              <a:t>Artisanal fisheries</a:t>
            </a:r>
            <a:endParaRPr lang="fr-FR" sz="2400" b="1" dirty="0"/>
          </a:p>
          <a:p>
            <a:pPr marL="1081088" indent="-547688">
              <a:buAutoNum type="alphaLcPeriod"/>
              <a:tabLst>
                <a:tab pos="800100" algn="l"/>
                <a:tab pos="1254125" algn="l"/>
              </a:tabLst>
            </a:pPr>
            <a:r>
              <a:rPr lang="en-GB" sz="2400" dirty="0" smtClean="0"/>
              <a:t>Implementation </a:t>
            </a:r>
            <a:r>
              <a:rPr lang="en-GB" sz="2400" dirty="0"/>
              <a:t>of international law </a:t>
            </a:r>
            <a:endParaRPr lang="fr-FR" sz="2400" dirty="0"/>
          </a:p>
          <a:p>
            <a:pPr marL="342900" indent="-342900">
              <a:buFont typeface="Arial"/>
              <a:buChar char="•"/>
            </a:pPr>
            <a:endParaRPr lang="en-GB" sz="2400" dirty="0">
              <a:latin typeface="Arial" charset="0"/>
              <a:ea typeface="ＭＳ Ｐゴシック" charset="0"/>
            </a:endParaRPr>
          </a:p>
        </p:txBody>
      </p:sp>
    </p:spTree>
    <p:extLst>
      <p:ext uri="{BB962C8B-B14F-4D97-AF65-F5344CB8AC3E}">
        <p14:creationId xmlns:p14="http://schemas.microsoft.com/office/powerpoint/2010/main" val="1881640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Example: North East Atlantic</a:t>
            </a:r>
            <a:endParaRPr lang="fr-FR" dirty="0"/>
          </a:p>
        </p:txBody>
      </p:sp>
      <p:sp>
        <p:nvSpPr>
          <p:cNvPr id="3" name="Espace réservé du contenu 1"/>
          <p:cNvSpPr>
            <a:spLocks noGrp="1"/>
          </p:cNvSpPr>
          <p:nvPr>
            <p:ph idx="1"/>
          </p:nvPr>
        </p:nvSpPr>
        <p:spPr>
          <a:xfrm>
            <a:off x="596813" y="1371600"/>
            <a:ext cx="8054974" cy="4824412"/>
          </a:xfrm>
        </p:spPr>
        <p:txBody>
          <a:bodyPr>
            <a:normAutofit lnSpcReduction="10000"/>
          </a:bodyPr>
          <a:lstStyle/>
          <a:p>
            <a:pPr marL="342900" indent="-342900">
              <a:buFont typeface="Arial"/>
              <a:buChar char="•"/>
            </a:pPr>
            <a:r>
              <a:rPr lang="en-GB" sz="2400" dirty="0" smtClean="0">
                <a:latin typeface="Arial" charset="0"/>
                <a:ea typeface="ＭＳ Ｐゴシック" charset="0"/>
              </a:rPr>
              <a:t>OSPAR MPA network/NEAFC fisheries closures</a:t>
            </a:r>
          </a:p>
          <a:p>
            <a:pPr marL="342900" indent="-342900">
              <a:buFont typeface="Arial"/>
              <a:buChar char="•"/>
            </a:pPr>
            <a:endParaRPr lang="en-GB" sz="2400" dirty="0">
              <a:latin typeface="Arial" charset="0"/>
              <a:ea typeface="ＭＳ Ｐゴシック" charset="0"/>
            </a:endParaRPr>
          </a:p>
          <a:p>
            <a:pPr marL="342900" indent="-342900">
              <a:buFont typeface="Arial"/>
              <a:buChar char="•"/>
            </a:pPr>
            <a:endParaRPr lang="en-GB" sz="2400" dirty="0" smtClean="0">
              <a:latin typeface="Arial" charset="0"/>
              <a:ea typeface="ＭＳ Ｐゴシック" charset="0"/>
            </a:endParaRPr>
          </a:p>
          <a:p>
            <a:pPr marL="342900" indent="-342900">
              <a:buFont typeface="Arial"/>
              <a:buChar char="•"/>
            </a:pPr>
            <a:endParaRPr lang="en-GB" sz="2400" dirty="0">
              <a:latin typeface="Arial" charset="0"/>
              <a:ea typeface="ＭＳ Ｐゴシック" charset="0"/>
            </a:endParaRPr>
          </a:p>
          <a:p>
            <a:pPr marL="342900" indent="-342900">
              <a:buFont typeface="Arial"/>
              <a:buChar char="•"/>
            </a:pPr>
            <a:endParaRPr lang="en-GB" sz="2400" dirty="0" smtClean="0">
              <a:latin typeface="Arial" charset="0"/>
              <a:ea typeface="ＭＳ Ｐゴシック" charset="0"/>
            </a:endParaRPr>
          </a:p>
          <a:p>
            <a:pPr marL="342900" indent="-342900">
              <a:buFont typeface="Arial"/>
              <a:buChar char="•"/>
            </a:pPr>
            <a:endParaRPr lang="en-GB" sz="2400" dirty="0">
              <a:latin typeface="Arial" charset="0"/>
              <a:ea typeface="ＭＳ Ｐゴシック" charset="0"/>
            </a:endParaRPr>
          </a:p>
          <a:p>
            <a:pPr marL="342900" indent="-342900">
              <a:buFont typeface="Arial"/>
              <a:buChar char="•"/>
            </a:pPr>
            <a:endParaRPr lang="en-GB" sz="2400" dirty="0" smtClean="0">
              <a:latin typeface="Arial" charset="0"/>
              <a:ea typeface="ＭＳ Ｐゴシック" charset="0"/>
            </a:endParaRPr>
          </a:p>
          <a:p>
            <a:pPr marL="342900" indent="-342900">
              <a:buFont typeface="Arial"/>
              <a:buChar char="•"/>
            </a:pPr>
            <a:endParaRPr lang="en-GB" sz="2400" dirty="0">
              <a:latin typeface="Arial" charset="0"/>
              <a:ea typeface="ＭＳ Ｐゴシック" charset="0"/>
            </a:endParaRPr>
          </a:p>
          <a:p>
            <a:pPr marL="342900" indent="-342900">
              <a:buFont typeface="Arial"/>
              <a:buChar char="•"/>
            </a:pPr>
            <a:endParaRPr lang="en-GB" sz="2400" dirty="0" smtClean="0">
              <a:latin typeface="Arial" charset="0"/>
              <a:ea typeface="ＭＳ Ｐゴシック" charset="0"/>
            </a:endParaRPr>
          </a:p>
          <a:p>
            <a:pPr marL="342900" indent="-342900">
              <a:buFont typeface="Arial"/>
              <a:buChar char="•"/>
            </a:pPr>
            <a:endParaRPr lang="en-GB" sz="2400" dirty="0" smtClean="0">
              <a:latin typeface="Arial" charset="0"/>
              <a:ea typeface="ＭＳ Ｐゴシック" charset="0"/>
            </a:endParaRPr>
          </a:p>
          <a:p>
            <a:pPr marL="342900" indent="-342900">
              <a:buFont typeface="Arial"/>
              <a:buChar char="•"/>
            </a:pPr>
            <a:r>
              <a:rPr lang="en-GB" sz="2400" dirty="0" smtClean="0">
                <a:latin typeface="Arial" charset="0"/>
                <a:ea typeface="ＭＳ Ｐゴシック" charset="0"/>
              </a:rPr>
              <a:t>The “Collective Arrangement”</a:t>
            </a:r>
            <a:endParaRPr lang="en-GB" sz="2400" dirty="0">
              <a:latin typeface="Arial" charset="0"/>
              <a:ea typeface="ＭＳ Ｐゴシック" charset="0"/>
            </a:endParaRPr>
          </a:p>
        </p:txBody>
      </p:sp>
      <p:pic>
        <p:nvPicPr>
          <p:cNvPr id="4" name="Image 3" descr="Macintosh HD:private:var:folders:1w:qnzt4gts3mn1kjcrncxmgrm40000gp:T:TemporaryItems:mpa_map_2014.jpg"/>
          <p:cNvPicPr/>
          <p:nvPr/>
        </p:nvPicPr>
        <p:blipFill>
          <a:blip r:embed="rId3">
            <a:extLst>
              <a:ext uri="{28A0092B-C50C-407E-A947-70E740481C1C}">
                <a14:useLocalDpi xmlns:a14="http://schemas.microsoft.com/office/drawing/2010/main" val="0"/>
              </a:ext>
            </a:extLst>
          </a:blip>
          <a:srcRect/>
          <a:stretch>
            <a:fillRect/>
          </a:stretch>
        </p:blipFill>
        <p:spPr bwMode="auto">
          <a:xfrm>
            <a:off x="4953000" y="1905000"/>
            <a:ext cx="3429000" cy="3429000"/>
          </a:xfrm>
          <a:prstGeom prst="rect">
            <a:avLst/>
          </a:prstGeom>
          <a:noFill/>
          <a:ln>
            <a:noFill/>
          </a:ln>
        </p:spPr>
      </p:pic>
      <p:pic>
        <p:nvPicPr>
          <p:cNvPr id="6" name="Image 5" descr="Capture d’écran 2017-04-25 à 20.18.37.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458" y="2057400"/>
            <a:ext cx="4051300" cy="1371600"/>
          </a:xfrm>
          <a:prstGeom prst="rect">
            <a:avLst/>
          </a:prstGeom>
        </p:spPr>
      </p:pic>
      <p:pic>
        <p:nvPicPr>
          <p:cNvPr id="7" name="Image 6" descr="logo.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67234" y="3672235"/>
            <a:ext cx="1509365" cy="1509365"/>
          </a:xfrm>
          <a:prstGeom prst="rect">
            <a:avLst/>
          </a:prstGeom>
        </p:spPr>
      </p:pic>
    </p:spTree>
    <p:extLst>
      <p:ext uri="{BB962C8B-B14F-4D97-AF65-F5344CB8AC3E}">
        <p14:creationId xmlns:p14="http://schemas.microsoft.com/office/powerpoint/2010/main" val="2788289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Example: The Coral Triangle</a:t>
            </a:r>
            <a:endParaRPr lang="fr-FR" dirty="0"/>
          </a:p>
        </p:txBody>
      </p:sp>
      <p:pic>
        <p:nvPicPr>
          <p:cNvPr id="7" name="Image 6" descr="imgres.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600" y="1365851"/>
            <a:ext cx="4988405" cy="1219990"/>
          </a:xfrm>
          <a:prstGeom prst="rect">
            <a:avLst/>
          </a:prstGeom>
        </p:spPr>
      </p:pic>
      <p:pic>
        <p:nvPicPr>
          <p:cNvPr id="8" name="Image 7" descr="imgres.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600" y="3095105"/>
            <a:ext cx="4572000" cy="2560320"/>
          </a:xfrm>
          <a:prstGeom prst="rect">
            <a:avLst/>
          </a:prstGeom>
        </p:spPr>
      </p:pic>
      <p:pic>
        <p:nvPicPr>
          <p:cNvPr id="9" name="Image 8" descr="images.jp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8600" y="3064625"/>
            <a:ext cx="4030133" cy="2590800"/>
          </a:xfrm>
          <a:prstGeom prst="rect">
            <a:avLst/>
          </a:prstGeom>
        </p:spPr>
      </p:pic>
    </p:spTree>
    <p:extLst>
      <p:ext uri="{BB962C8B-B14F-4D97-AF65-F5344CB8AC3E}">
        <p14:creationId xmlns:p14="http://schemas.microsoft.com/office/powerpoint/2010/main" val="2102267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Example: East African Coast</a:t>
            </a:r>
            <a:endParaRPr lang="fr-FR" dirty="0"/>
          </a:p>
        </p:txBody>
      </p:sp>
      <p:pic>
        <p:nvPicPr>
          <p:cNvPr id="4" name="Image 3" descr="imgres.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392" y="1196752"/>
            <a:ext cx="4580769" cy="1775048"/>
          </a:xfrm>
          <a:prstGeom prst="rect">
            <a:avLst/>
          </a:prstGeom>
        </p:spPr>
      </p:pic>
      <p:pic>
        <p:nvPicPr>
          <p:cNvPr id="5" name="image03.png"/>
          <p:cNvPicPr/>
          <p:nvPr/>
        </p:nvPicPr>
        <p:blipFill>
          <a:blip r:embed="rId4"/>
          <a:srcRect/>
          <a:stretch>
            <a:fillRect/>
          </a:stretch>
        </p:blipFill>
        <p:spPr>
          <a:xfrm>
            <a:off x="3581400" y="2819400"/>
            <a:ext cx="4648200" cy="3495534"/>
          </a:xfrm>
          <a:prstGeom prst="rect">
            <a:avLst/>
          </a:prstGeom>
          <a:ln/>
        </p:spPr>
      </p:pic>
    </p:spTree>
    <p:extLst>
      <p:ext uri="{BB962C8B-B14F-4D97-AF65-F5344CB8AC3E}">
        <p14:creationId xmlns:p14="http://schemas.microsoft.com/office/powerpoint/2010/main" val="3021614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Example: Sargasso Sea</a:t>
            </a:r>
            <a:endParaRPr lang="fr-FR" dirty="0"/>
          </a:p>
        </p:txBody>
      </p:sp>
      <p:pic>
        <p:nvPicPr>
          <p:cNvPr id="5" name="Image 4" descr="SSA_Geographical_Area.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5600" y="2819400"/>
            <a:ext cx="5018236" cy="3487674"/>
          </a:xfrm>
          <a:prstGeom prst="rect">
            <a:avLst/>
          </a:prstGeom>
        </p:spPr>
      </p:pic>
      <p:pic>
        <p:nvPicPr>
          <p:cNvPr id="6" name="Image 5" descr="logo.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1295400"/>
            <a:ext cx="4902200" cy="1358900"/>
          </a:xfrm>
          <a:prstGeom prst="rect">
            <a:avLst/>
          </a:prstGeom>
        </p:spPr>
      </p:pic>
    </p:spTree>
    <p:extLst>
      <p:ext uri="{BB962C8B-B14F-4D97-AF65-F5344CB8AC3E}">
        <p14:creationId xmlns:p14="http://schemas.microsoft.com/office/powerpoint/2010/main" val="2768110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Enabling conditions</a:t>
            </a:r>
            <a:endParaRPr lang="fr-FR" dirty="0"/>
          </a:p>
        </p:txBody>
      </p:sp>
      <p:sp>
        <p:nvSpPr>
          <p:cNvPr id="3" name="Espace réservé du contenu 1"/>
          <p:cNvSpPr>
            <a:spLocks noGrp="1"/>
          </p:cNvSpPr>
          <p:nvPr>
            <p:ph idx="1"/>
          </p:nvPr>
        </p:nvSpPr>
        <p:spPr>
          <a:xfrm>
            <a:off x="596813" y="1371600"/>
            <a:ext cx="8054974" cy="4824412"/>
          </a:xfrm>
        </p:spPr>
        <p:txBody>
          <a:bodyPr>
            <a:normAutofit/>
          </a:bodyPr>
          <a:lstStyle/>
          <a:p>
            <a:r>
              <a:rPr lang="en-GB" sz="2400" dirty="0"/>
              <a:t>Some regions benefit from favourable enabling conditions that have allowed them to make impressive </a:t>
            </a:r>
            <a:r>
              <a:rPr lang="en-GB" sz="2400" dirty="0" smtClean="0"/>
              <a:t>progress, while others have created </a:t>
            </a:r>
            <a:r>
              <a:rPr lang="en-GB" sz="2400" dirty="0"/>
              <a:t>such conditions through </a:t>
            </a:r>
            <a:r>
              <a:rPr lang="en-GB" sz="2400" dirty="0" smtClean="0"/>
              <a:t>cooperation: </a:t>
            </a:r>
            <a:endParaRPr lang="fr-FR" sz="2400" dirty="0"/>
          </a:p>
          <a:p>
            <a:pPr marL="787400" lvl="1">
              <a:buFont typeface="Arial"/>
              <a:buChar char="•"/>
            </a:pPr>
            <a:r>
              <a:rPr lang="en-GB" sz="2400" dirty="0"/>
              <a:t>Strong existing legal and policy </a:t>
            </a:r>
            <a:r>
              <a:rPr lang="en-GB" sz="2400" dirty="0" smtClean="0"/>
              <a:t>frameworks; </a:t>
            </a:r>
          </a:p>
          <a:p>
            <a:pPr marL="787400" lvl="1">
              <a:buFont typeface="Arial"/>
              <a:buChar char="•"/>
            </a:pPr>
            <a:r>
              <a:rPr lang="en-GB" sz="2400" dirty="0" smtClean="0"/>
              <a:t>A history </a:t>
            </a:r>
            <a:r>
              <a:rPr lang="en-GB" sz="2400" dirty="0"/>
              <a:t>of active engagement of States in regional processes; </a:t>
            </a:r>
            <a:endParaRPr lang="fr-FR" sz="2400" dirty="0"/>
          </a:p>
          <a:p>
            <a:pPr marL="787400" lvl="1">
              <a:buFont typeface="Arial"/>
              <a:buChar char="•"/>
            </a:pPr>
            <a:r>
              <a:rPr lang="en-GB" sz="2400" dirty="0"/>
              <a:t>A clear </a:t>
            </a:r>
            <a:r>
              <a:rPr lang="en-GB" sz="2400" dirty="0" smtClean="0"/>
              <a:t>&amp; present economic/environmental imperative; </a:t>
            </a:r>
            <a:endParaRPr lang="fr-FR" sz="2400" dirty="0"/>
          </a:p>
          <a:p>
            <a:pPr marL="787400" lvl="1">
              <a:buFont typeface="Arial"/>
              <a:buChar char="•"/>
            </a:pPr>
            <a:r>
              <a:rPr lang="en-GB" sz="2400" dirty="0"/>
              <a:t>Long-term political and institutional stability; </a:t>
            </a:r>
            <a:endParaRPr lang="fr-FR" sz="2400" dirty="0"/>
          </a:p>
          <a:p>
            <a:pPr marL="787400" lvl="1">
              <a:buFont typeface="Arial"/>
              <a:buChar char="•"/>
            </a:pPr>
            <a:r>
              <a:rPr lang="en-GB" sz="2400" dirty="0"/>
              <a:t>Stakeholder engagement </a:t>
            </a:r>
            <a:r>
              <a:rPr lang="en-GB" sz="2400" dirty="0" smtClean="0"/>
              <a:t>&amp; </a:t>
            </a:r>
            <a:r>
              <a:rPr lang="en-GB" sz="2400" dirty="0"/>
              <a:t>community buy-in; </a:t>
            </a:r>
            <a:endParaRPr lang="fr-FR" sz="2400" dirty="0"/>
          </a:p>
          <a:p>
            <a:pPr marL="787400" lvl="1">
              <a:buFont typeface="Arial"/>
              <a:buChar char="•"/>
            </a:pPr>
            <a:r>
              <a:rPr lang="en-GB" sz="2400" dirty="0"/>
              <a:t>Availability of financing </a:t>
            </a:r>
            <a:r>
              <a:rPr lang="en-GB" sz="2400" dirty="0" smtClean="0"/>
              <a:t>for </a:t>
            </a:r>
            <a:r>
              <a:rPr lang="en-GB" sz="2400" dirty="0"/>
              <a:t>capacity development</a:t>
            </a:r>
            <a:r>
              <a:rPr lang="en-GB" sz="2400" dirty="0" smtClean="0"/>
              <a:t>.</a:t>
            </a:r>
            <a:endParaRPr lang="fr-FR" sz="2400" dirty="0"/>
          </a:p>
        </p:txBody>
      </p:sp>
    </p:spTree>
    <p:extLst>
      <p:ext uri="{BB962C8B-B14F-4D97-AF65-F5344CB8AC3E}">
        <p14:creationId xmlns:p14="http://schemas.microsoft.com/office/powerpoint/2010/main" val="386884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Lessons learned</a:t>
            </a:r>
            <a:endParaRPr lang="fr-FR" dirty="0"/>
          </a:p>
        </p:txBody>
      </p:sp>
      <p:sp>
        <p:nvSpPr>
          <p:cNvPr id="3" name="Espace réservé du contenu 1"/>
          <p:cNvSpPr>
            <a:spLocks noGrp="1"/>
          </p:cNvSpPr>
          <p:nvPr>
            <p:ph idx="1"/>
          </p:nvPr>
        </p:nvSpPr>
        <p:spPr>
          <a:xfrm>
            <a:off x="596813" y="1196752"/>
            <a:ext cx="8054974" cy="5356448"/>
          </a:xfrm>
        </p:spPr>
        <p:txBody>
          <a:bodyPr>
            <a:normAutofit/>
          </a:bodyPr>
          <a:lstStyle/>
          <a:p>
            <a:r>
              <a:rPr lang="en-GB" sz="2800" dirty="0"/>
              <a:t>R</a:t>
            </a:r>
            <a:r>
              <a:rPr lang="en-GB" sz="2800" dirty="0" smtClean="0"/>
              <a:t>egional </a:t>
            </a:r>
            <a:r>
              <a:rPr lang="en-GB" sz="2800" dirty="0"/>
              <a:t>contexts are highly diverse</a:t>
            </a:r>
            <a:r>
              <a:rPr lang="en-GB" sz="2800" dirty="0" smtClean="0"/>
              <a:t>, but </a:t>
            </a:r>
            <a:r>
              <a:rPr lang="en-GB" sz="2800" dirty="0"/>
              <a:t>there are </a:t>
            </a:r>
            <a:r>
              <a:rPr lang="en-GB" sz="2800" dirty="0" smtClean="0"/>
              <a:t>a </a:t>
            </a:r>
            <a:r>
              <a:rPr lang="en-GB" sz="2800" dirty="0"/>
              <a:t>number of common </a:t>
            </a:r>
            <a:r>
              <a:rPr lang="en-GB" sz="2800" dirty="0" smtClean="0"/>
              <a:t>lessons learned:</a:t>
            </a:r>
            <a:endParaRPr lang="fr-FR" sz="2800" dirty="0"/>
          </a:p>
          <a:p>
            <a:pPr marL="787400" lvl="1">
              <a:buFont typeface="Arial"/>
              <a:buChar char="•"/>
            </a:pPr>
            <a:r>
              <a:rPr lang="en-GB" sz="2800" dirty="0"/>
              <a:t>R</a:t>
            </a:r>
            <a:r>
              <a:rPr lang="en-GB" sz="2800" dirty="0" smtClean="0"/>
              <a:t>egional </a:t>
            </a:r>
            <a:r>
              <a:rPr lang="en-GB" sz="2800" dirty="0"/>
              <a:t>champions can play a </a:t>
            </a:r>
            <a:r>
              <a:rPr lang="en-GB" sz="2800" dirty="0" smtClean="0"/>
              <a:t>major role;</a:t>
            </a:r>
            <a:endParaRPr lang="fr-FR" sz="2800" dirty="0"/>
          </a:p>
          <a:p>
            <a:pPr marL="787400" lvl="1">
              <a:buFont typeface="Arial"/>
              <a:buChar char="•"/>
            </a:pPr>
            <a:r>
              <a:rPr lang="en-GB" sz="2800" dirty="0"/>
              <a:t>Financing </a:t>
            </a:r>
            <a:r>
              <a:rPr lang="en-GB" sz="2800" dirty="0" smtClean="0"/>
              <a:t>should be long</a:t>
            </a:r>
            <a:r>
              <a:rPr lang="en-GB" sz="2800" dirty="0"/>
              <a:t>-term, flexible, sustainable</a:t>
            </a:r>
            <a:r>
              <a:rPr lang="en-GB" sz="2800" dirty="0" smtClean="0"/>
              <a:t>, and support </a:t>
            </a:r>
            <a:r>
              <a:rPr lang="en-GB" sz="2800" dirty="0"/>
              <a:t>both projects </a:t>
            </a:r>
            <a:r>
              <a:rPr lang="en-GB" sz="2800" dirty="0" smtClean="0"/>
              <a:t>&amp; capacity </a:t>
            </a:r>
            <a:r>
              <a:rPr lang="en-GB" sz="2800" dirty="0"/>
              <a:t>development;</a:t>
            </a:r>
            <a:endParaRPr lang="fr-FR" sz="2800" dirty="0"/>
          </a:p>
          <a:p>
            <a:pPr marL="787400" lvl="1">
              <a:buFont typeface="Arial"/>
              <a:buChar char="•"/>
            </a:pPr>
            <a:r>
              <a:rPr lang="en-GB" sz="2800" dirty="0" smtClean="0"/>
              <a:t>Need for a </a:t>
            </a:r>
            <a:r>
              <a:rPr lang="en-GB" sz="2800" dirty="0"/>
              <a:t>common vision or </a:t>
            </a:r>
            <a:r>
              <a:rPr lang="en-GB" sz="2800" dirty="0" smtClean="0"/>
              <a:t>purpose;</a:t>
            </a:r>
            <a:endParaRPr lang="fr-FR" sz="2800" dirty="0"/>
          </a:p>
          <a:p>
            <a:pPr marL="787400" lvl="1">
              <a:buFont typeface="Arial"/>
              <a:buChar char="•"/>
            </a:pPr>
            <a:r>
              <a:rPr lang="en-GB" sz="2800" dirty="0" smtClean="0"/>
              <a:t>An appropriate institutional structure;</a:t>
            </a:r>
            <a:endParaRPr lang="fr-FR" sz="2800" dirty="0"/>
          </a:p>
          <a:p>
            <a:pPr marL="787400" lvl="1">
              <a:buFont typeface="Arial"/>
              <a:buChar char="•"/>
            </a:pPr>
            <a:r>
              <a:rPr lang="en-GB" sz="2800" dirty="0"/>
              <a:t>Targets and deadlines are necessary, but not sufficient</a:t>
            </a:r>
            <a:r>
              <a:rPr lang="en-GB" sz="2800" dirty="0" smtClean="0"/>
              <a:t>. Need action, as well as words.</a:t>
            </a:r>
            <a:endParaRPr lang="en-GB" sz="2800" dirty="0">
              <a:latin typeface="Arial" charset="0"/>
              <a:ea typeface="ＭＳ Ｐゴシック" charset="0"/>
            </a:endParaRPr>
          </a:p>
        </p:txBody>
      </p:sp>
    </p:spTree>
    <p:extLst>
      <p:ext uri="{BB962C8B-B14F-4D97-AF65-F5344CB8AC3E}">
        <p14:creationId xmlns:p14="http://schemas.microsoft.com/office/powerpoint/2010/main" val="386884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What’s next for regional ocean governance?</a:t>
            </a:r>
            <a:endParaRPr lang="fr-FR" dirty="0"/>
          </a:p>
        </p:txBody>
      </p:sp>
      <p:sp>
        <p:nvSpPr>
          <p:cNvPr id="3" name="Espace réservé du contenu 1"/>
          <p:cNvSpPr>
            <a:spLocks noGrp="1"/>
          </p:cNvSpPr>
          <p:nvPr>
            <p:ph idx="1"/>
          </p:nvPr>
        </p:nvSpPr>
        <p:spPr>
          <a:xfrm>
            <a:off x="596813" y="1371600"/>
            <a:ext cx="8054974" cy="4824412"/>
          </a:xfrm>
        </p:spPr>
        <p:txBody>
          <a:bodyPr>
            <a:normAutofit/>
          </a:bodyPr>
          <a:lstStyle/>
          <a:p>
            <a:pPr marL="342900" indent="-342900">
              <a:buFont typeface="Arial"/>
              <a:buChar char="•"/>
            </a:pPr>
            <a:r>
              <a:rPr lang="en-GB" sz="2800" dirty="0" smtClean="0"/>
              <a:t>Regional ocean governance to play a key role in harmonising national approaches and increasing ambition</a:t>
            </a:r>
          </a:p>
          <a:p>
            <a:pPr marL="342900" indent="-342900">
              <a:buFont typeface="Arial"/>
              <a:buChar char="•"/>
            </a:pPr>
            <a:endParaRPr lang="en-GB" sz="2800" dirty="0"/>
          </a:p>
          <a:p>
            <a:pPr marL="342900" indent="-342900">
              <a:buFont typeface="Arial"/>
              <a:buChar char="•"/>
            </a:pPr>
            <a:r>
              <a:rPr lang="en-GB" sz="2800" dirty="0" smtClean="0"/>
              <a:t>Development of regional </a:t>
            </a:r>
            <a:r>
              <a:rPr lang="en-GB" sz="2800" dirty="0"/>
              <a:t>partnerships for sustainable management of</a:t>
            </a:r>
            <a:r>
              <a:rPr lang="fr-FR" sz="2800" dirty="0"/>
              <a:t> </a:t>
            </a:r>
            <a:r>
              <a:rPr lang="fr-FR" sz="2800" dirty="0" err="1" smtClean="0"/>
              <a:t>ocean</a:t>
            </a:r>
            <a:endParaRPr lang="fr-FR" sz="2800" dirty="0" smtClean="0"/>
          </a:p>
          <a:p>
            <a:pPr marL="787400" lvl="1">
              <a:buFont typeface="Arial"/>
              <a:buChar char="•"/>
            </a:pPr>
            <a:r>
              <a:rPr lang="fr-FR" sz="2800" dirty="0" err="1" smtClean="0"/>
              <a:t>June</a:t>
            </a:r>
            <a:r>
              <a:rPr lang="fr-FR" sz="2800" dirty="0" smtClean="0"/>
              <a:t> </a:t>
            </a:r>
            <a:r>
              <a:rPr lang="fr-FR" sz="2800" dirty="0" err="1" smtClean="0"/>
              <a:t>conference</a:t>
            </a:r>
            <a:r>
              <a:rPr lang="fr-FR" sz="2800" dirty="0" smtClean="0"/>
              <a:t> a </a:t>
            </a:r>
            <a:r>
              <a:rPr lang="fr-FR" sz="2800" dirty="0" err="1" smtClean="0"/>
              <a:t>key</a:t>
            </a:r>
            <a:r>
              <a:rPr lang="fr-FR" sz="2800" dirty="0" smtClean="0"/>
              <a:t> </a:t>
            </a:r>
            <a:r>
              <a:rPr lang="fr-FR" sz="2800" dirty="0" err="1" smtClean="0"/>
              <a:t>step</a:t>
            </a:r>
            <a:r>
              <a:rPr lang="fr-FR" sz="2800" dirty="0" smtClean="0"/>
              <a:t> </a:t>
            </a:r>
            <a:r>
              <a:rPr lang="mr-IN" sz="2800" dirty="0" smtClean="0"/>
              <a:t>–</a:t>
            </a:r>
            <a:r>
              <a:rPr lang="fr-FR" sz="2800" dirty="0" smtClean="0"/>
              <a:t> </a:t>
            </a:r>
            <a:r>
              <a:rPr lang="fr-FR" sz="2800" dirty="0" err="1" smtClean="0"/>
              <a:t>partnership</a:t>
            </a:r>
            <a:r>
              <a:rPr lang="fr-FR" sz="2800" dirty="0" smtClean="0"/>
              <a:t> dialogues</a:t>
            </a:r>
          </a:p>
          <a:p>
            <a:pPr marL="342900" indent="-342900">
              <a:buFont typeface="Arial"/>
              <a:buChar char="•"/>
            </a:pPr>
            <a:endParaRPr lang="fr-FR" sz="2800" dirty="0">
              <a:latin typeface="Arial" charset="0"/>
              <a:ea typeface="ＭＳ Ｐゴシック" charset="0"/>
            </a:endParaRPr>
          </a:p>
          <a:p>
            <a:pPr marL="342900" indent="-342900">
              <a:buFont typeface="Arial"/>
              <a:buChar char="•"/>
            </a:pPr>
            <a:r>
              <a:rPr lang="en-GB" sz="2800" dirty="0"/>
              <a:t>Opportunities for region-to-region exchange </a:t>
            </a:r>
            <a:endParaRPr lang="en-GB" sz="2800" dirty="0">
              <a:latin typeface="Arial" charset="0"/>
              <a:ea typeface="ＭＳ Ｐゴシック" charset="0"/>
            </a:endParaRPr>
          </a:p>
        </p:txBody>
      </p:sp>
    </p:spTree>
    <p:extLst>
      <p:ext uri="{BB962C8B-B14F-4D97-AF65-F5344CB8AC3E}">
        <p14:creationId xmlns:p14="http://schemas.microsoft.com/office/powerpoint/2010/main" val="2034932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LogoIDDRICouleu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36067"/>
          <a:stretch/>
        </p:blipFill>
        <p:spPr bwMode="auto">
          <a:xfrm>
            <a:off x="722746" y="3810000"/>
            <a:ext cx="1800225"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5" name="Text Box 6"/>
          <p:cNvSpPr txBox="1">
            <a:spLocks noChangeArrowheads="1"/>
          </p:cNvSpPr>
          <p:nvPr/>
        </p:nvSpPr>
        <p:spPr bwMode="auto">
          <a:xfrm>
            <a:off x="684213" y="4629150"/>
            <a:ext cx="7993062"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b="1">
                <a:solidFill>
                  <a:schemeClr val="tx1"/>
                </a:solidFill>
                <a:latin typeface="Arial" charset="0"/>
                <a:ea typeface="ＭＳ Ｐゴシック" charset="0"/>
                <a:cs typeface="ＭＳ Ｐゴシック" charset="0"/>
              </a:defRPr>
            </a:lvl1pPr>
            <a:lvl2pPr marL="742950" indent="-285750" eaLnBrk="0" hangingPunct="0">
              <a:defRPr sz="2400" b="1">
                <a:solidFill>
                  <a:schemeClr val="tx1"/>
                </a:solidFill>
                <a:latin typeface="Arial" charset="0"/>
                <a:ea typeface="ＭＳ Ｐゴシック" charset="0"/>
              </a:defRPr>
            </a:lvl2pPr>
            <a:lvl3pPr marL="1143000" indent="-228600" eaLnBrk="0" hangingPunct="0">
              <a:defRPr sz="2400" b="1">
                <a:solidFill>
                  <a:schemeClr val="tx1"/>
                </a:solidFill>
                <a:latin typeface="Arial" charset="0"/>
                <a:ea typeface="ＭＳ Ｐゴシック" charset="0"/>
              </a:defRPr>
            </a:lvl3pPr>
            <a:lvl4pPr marL="1600200" indent="-228600" eaLnBrk="0" hangingPunct="0">
              <a:defRPr sz="2400" b="1">
                <a:solidFill>
                  <a:schemeClr val="tx1"/>
                </a:solidFill>
                <a:latin typeface="Arial" charset="0"/>
                <a:ea typeface="ＭＳ Ｐゴシック" charset="0"/>
              </a:defRPr>
            </a:lvl4pPr>
            <a:lvl5pPr marL="2057400" indent="-228600" eaLnBrk="0" hangingPunct="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pPr eaLnBrk="1" hangingPunct="1">
              <a:lnSpc>
                <a:spcPct val="90000"/>
              </a:lnSpc>
              <a:spcBef>
                <a:spcPct val="50000"/>
              </a:spcBef>
              <a:spcAft>
                <a:spcPts val="600"/>
              </a:spcAft>
            </a:pPr>
            <a:endParaRPr lang="fr-FR" sz="1800" dirty="0">
              <a:latin typeface="Helvetica" charset="0"/>
            </a:endParaRPr>
          </a:p>
          <a:p>
            <a:pPr eaLnBrk="1" hangingPunct="1">
              <a:lnSpc>
                <a:spcPct val="90000"/>
              </a:lnSpc>
              <a:spcBef>
                <a:spcPct val="50000"/>
              </a:spcBef>
              <a:spcAft>
                <a:spcPts val="600"/>
              </a:spcAft>
            </a:pPr>
            <a:r>
              <a:rPr lang="fr-FR" sz="1800" dirty="0">
                <a:latin typeface="Helvetica" charset="0"/>
              </a:rPr>
              <a:t>Glen Wright</a:t>
            </a:r>
          </a:p>
          <a:p>
            <a:pPr eaLnBrk="1" hangingPunct="1">
              <a:lnSpc>
                <a:spcPct val="90000"/>
              </a:lnSpc>
              <a:spcAft>
                <a:spcPts val="600"/>
              </a:spcAft>
            </a:pPr>
            <a:r>
              <a:rPr lang="fr-FR" sz="1800" b="0" dirty="0">
                <a:latin typeface="Helvetica" charset="0"/>
              </a:rPr>
              <a:t>Institute for </a:t>
            </a:r>
            <a:r>
              <a:rPr lang="fr-FR" sz="1800" b="0" dirty="0" err="1">
                <a:latin typeface="Helvetica" charset="0"/>
              </a:rPr>
              <a:t>Sustainable</a:t>
            </a:r>
            <a:r>
              <a:rPr lang="fr-FR" sz="1800" b="0" dirty="0">
                <a:latin typeface="Helvetica" charset="0"/>
              </a:rPr>
              <a:t> </a:t>
            </a:r>
            <a:r>
              <a:rPr lang="fr-FR" sz="1800" b="0" dirty="0" err="1">
                <a:latin typeface="Helvetica" charset="0"/>
              </a:rPr>
              <a:t>Development</a:t>
            </a:r>
            <a:r>
              <a:rPr lang="fr-FR" sz="1800" b="0" dirty="0">
                <a:latin typeface="Helvetica" charset="0"/>
              </a:rPr>
              <a:t> and International Relations (IDDRI)</a:t>
            </a:r>
          </a:p>
          <a:p>
            <a:pPr eaLnBrk="1" hangingPunct="1">
              <a:lnSpc>
                <a:spcPct val="90000"/>
              </a:lnSpc>
              <a:spcAft>
                <a:spcPts val="600"/>
              </a:spcAft>
            </a:pPr>
            <a:r>
              <a:rPr lang="fr-FR" sz="1800" b="0" dirty="0" err="1">
                <a:latin typeface="Helvetica" charset="0"/>
              </a:rPr>
              <a:t>glen.wright@iddri.org</a:t>
            </a:r>
            <a:endParaRPr lang="fr-FR" sz="1800" b="0" dirty="0">
              <a:latin typeface="Helvetica" charset="0"/>
            </a:endParaRPr>
          </a:p>
        </p:txBody>
      </p:sp>
    </p:spTree>
    <p:extLst>
      <p:ext uri="{BB962C8B-B14F-4D97-AF65-F5344CB8AC3E}">
        <p14:creationId xmlns:p14="http://schemas.microsoft.com/office/powerpoint/2010/main" val="3101832964"/>
      </p:ext>
    </p:extLst>
  </p:cSld>
  <p:clrMapOvr>
    <a:masterClrMapping/>
  </p:clrMapOvr>
</p:sld>
</file>

<file path=ppt/theme/theme1.xml><?xml version="1.0" encoding="utf-8"?>
<a:theme xmlns:a="http://schemas.openxmlformats.org/drawingml/2006/main" name="Iddri">
  <a:themeElements>
    <a:clrScheme name="Iddri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Iddr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1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1800" b="1" i="0" u="none" strike="noStrike" cap="none" normalizeH="0" baseline="0" smtClean="0">
            <a:ln>
              <a:noFill/>
            </a:ln>
            <a:solidFill>
              <a:schemeClr val="tx1"/>
            </a:solidFill>
            <a:effectLst/>
            <a:latin typeface="Arial" charset="0"/>
          </a:defRPr>
        </a:defPPr>
      </a:lstStyle>
    </a:lnDef>
  </a:objectDefaults>
  <a:extraClrSchemeLst>
    <a:extraClrScheme>
      <a:clrScheme name="Iddri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Iddri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Iddri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Iddri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Iddri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Iddri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Iddri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Iddri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Iddri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Iddri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Iddri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Iddri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onception personnalisée">
  <a:themeElements>
    <a:clrScheme name="Conception personnalisé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onception personnalisé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1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1800" b="1" i="0" u="none" strike="noStrike" cap="none" normalizeH="0" baseline="0" smtClean="0">
            <a:ln>
              <a:noFill/>
            </a:ln>
            <a:solidFill>
              <a:schemeClr val="tx1"/>
            </a:solidFill>
            <a:effectLst/>
            <a:latin typeface="Arial" charset="0"/>
          </a:defRPr>
        </a:defPPr>
      </a:lstStyle>
    </a:lnDef>
  </a:objectDefaults>
  <a:extraClrSchemeLst>
    <a:extraClrScheme>
      <a:clrScheme name="Conception personnalisé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onception personnalisé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onception personnalisé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onception personnalisé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onception personnalisé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onception personnalisé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onception personnalisé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onception personnalisé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onception personnalisé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onception personnalisé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onception personnalisé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onception personnalisé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7353134</TotalTime>
  <Words>5980</Words>
  <Application>Microsoft Macintosh PowerPoint</Application>
  <PresentationFormat>Présentation à l'écran (4:3)</PresentationFormat>
  <Paragraphs>878</Paragraphs>
  <Slides>15</Slides>
  <Notes>14</Notes>
  <HiddenSlides>0</HiddenSlides>
  <MMClips>0</MMClips>
  <ScaleCrop>false</ScaleCrop>
  <HeadingPairs>
    <vt:vector size="4" baseType="variant">
      <vt:variant>
        <vt:lpstr>Thème</vt:lpstr>
      </vt:variant>
      <vt:variant>
        <vt:i4>5</vt:i4>
      </vt:variant>
      <vt:variant>
        <vt:lpstr>Titres des diapositives</vt:lpstr>
      </vt:variant>
      <vt:variant>
        <vt:i4>15</vt:i4>
      </vt:variant>
    </vt:vector>
  </HeadingPairs>
  <TitlesOfParts>
    <vt:vector size="20" baseType="lpstr">
      <vt:lpstr>Iddri</vt:lpstr>
      <vt:lpstr>Conception personnalisée</vt:lpstr>
      <vt:lpstr>Thème Office</vt:lpstr>
      <vt:lpstr>1_Thème Office</vt:lpstr>
      <vt:lpstr>2_Thème Office</vt:lpstr>
      <vt:lpstr>Partnering for a Sustainable Ocean: The Role of Regional Ocean Governance in Implementing SDG14</vt:lpstr>
      <vt:lpstr>Présentation PowerPoint</vt:lpstr>
      <vt:lpstr>Key messages</vt:lpstr>
      <vt:lpstr>PROG report</vt:lpstr>
      <vt:lpstr>Regional ocean governance (1)</vt:lpstr>
      <vt:lpstr>Regional ocean governance (2)</vt:lpstr>
      <vt:lpstr>Tackling SDG14 targets at the regional level</vt:lpstr>
      <vt:lpstr>Example: North East Atlantic</vt:lpstr>
      <vt:lpstr>Example: The Coral Triangle</vt:lpstr>
      <vt:lpstr>Example: East African Coast</vt:lpstr>
      <vt:lpstr>Example: Sargasso Sea</vt:lpstr>
      <vt:lpstr>Enabling conditions</vt:lpstr>
      <vt:lpstr>Lessons learned</vt:lpstr>
      <vt:lpstr>What’s next for regional ocean governance?</vt:lpstr>
      <vt:lpstr>Présentation PowerPoint</vt:lpstr>
    </vt:vector>
  </TitlesOfParts>
  <Company>CIRAD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B. Garnaud</dc:creator>
  <cp:lastModifiedBy>Glen Wright</cp:lastModifiedBy>
  <cp:revision>2334</cp:revision>
  <dcterms:created xsi:type="dcterms:W3CDTF">2012-12-21T15:06:12Z</dcterms:created>
  <dcterms:modified xsi:type="dcterms:W3CDTF">2017-04-26T01:31:30Z</dcterms:modified>
</cp:coreProperties>
</file>